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37160" cy="41148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300" b="1">
                <a:solidFill>
                  <a:srgbClr val="38BDF8"/>
                </a:solidFill>
                <a:latin typeface="Helvetica"/>
              </a:defRPr>
            </a:pPr>
            <a:r>
              <a:t>THE BRITISH COLLEGE NEPAL · UWE BRISTOL</a:t>
            </a:r>
          </a:p>
          <a:p>
            <a:pPr>
              <a:defRPr sz="4200" b="1">
                <a:solidFill>
                  <a:srgbClr val="F8FAFC"/>
                </a:solidFill>
                <a:latin typeface="Helvetica"/>
              </a:defRPr>
            </a:pPr>
            <a:r>
              <a:t>Machine Learning (UFCFAS-15-2)</a:t>
            </a:r>
          </a:p>
          <a:p>
            <a:pPr>
              <a:spcAft>
                <a:spcPts val="2400"/>
              </a:spcAft>
              <a:defRPr sz="2200">
                <a:solidFill>
                  <a:srgbClr val="818CF8"/>
                </a:solidFill>
                <a:latin typeface="Helvetica"/>
              </a:defRPr>
            </a:pPr>
            <a:r>
              <a:t>Week 1 · Class 1: Course Orientation &amp; Overview</a:t>
            </a:r>
          </a:p>
          <a:p>
            <a:pPr>
              <a:defRPr sz="1400">
                <a:solidFill>
                  <a:srgbClr val="94A3B8"/>
                </a:solidFill>
                <a:latin typeface="Helvetica"/>
              </a:defRPr>
            </a:pPr>
            <a:r>
              <a:t>Module: UFCFAS-15-2 · Level 5 (15 UK Credits / 7.5 ECTS)</a:t>
            </a:r>
            <a:br/>
            <a:r>
              <a:t>Lecturer: Sudan Pudasaini · Module Leader (UWE): Prof. Jun Hong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Helvetica"/>
              </a:defRPr>
            </a:pPr>
            <a:r>
              <a:t>MACHINE LEARNING (UFCFAS-15-2) · WEEK 1 · CLASS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Helvetica"/>
              </a:defRPr>
            </a:pPr>
            <a:r>
              <a:t>Welcome &amp; Reading the Room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72865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1206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56032" bIns="256032"/>
          <a:lstStyle/>
          <a:p>
            <a:pPr algn="ctr"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ICEBREAKER</a:t>
            </a:r>
          </a:p>
          <a:p>
            <a:pPr>
              <a:spcAft>
                <a:spcPts val="1000"/>
              </a:spcAft>
              <a:defRPr sz="1800" b="1">
                <a:solidFill>
                  <a:srgbClr val="818CF8"/>
                </a:solidFill>
                <a:latin typeface="Helvetica"/>
              </a:defRPr>
            </a:pPr>
            <a:r>
              <a:t>Show of Hands &amp; Background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Who feels confident writing functions and data scripts in Python?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Who has manipulated data with NumPy, Pandas, or Matplotlib?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Who has previously trained a model in Scikit-Learn or PyTorch?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Who uses GitHub Copilot, ChatGPT, or Claude in their daily workflow?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Our goal: Bridge the gap from novice scripter to ML engineer.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828800"/>
            <a:ext cx="51206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56032" bIns="256032"/>
          <a:lstStyle/>
          <a:p>
            <a:pPr algn="ctr"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PHILOSOPHY</a:t>
            </a:r>
          </a:p>
          <a:p>
            <a:pPr>
              <a:spcAft>
                <a:spcPts val="1000"/>
              </a:spcAft>
              <a:defRPr sz="1800" b="1">
                <a:solidFill>
                  <a:srgbClr val="818CF8"/>
                </a:solidFill>
                <a:latin typeface="Helvetica"/>
              </a:defRPr>
            </a:pPr>
            <a:r>
              <a:t>The Level 5 Mindset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Machine Learning is NOT black-box memorization.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It is NOT just dry mathematical proofs either.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It IS empirical software engineering.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Designing systems that learn from data.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Knowing how to benchmark and evaluate them honestly.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Helvetica"/>
              </a:defRPr>
            </a:pPr>
            <a:r>
              <a:t>MACHINE LEARNING (UFCFAS-15-2) · WEEK 1 · CLASS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Helvetica"/>
              </a:defRPr>
            </a:pPr>
            <a:r>
              <a:t>Academic Partnership &amp; Module Identity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72865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1206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56032" bIns="256032"/>
          <a:lstStyle/>
          <a:p>
            <a:pPr algn="ctr"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PARTNERSHIP</a:t>
            </a:r>
          </a:p>
          <a:p>
            <a:pPr>
              <a:spcAft>
                <a:spcPts val="1000"/>
              </a:spcAft>
              <a:defRPr sz="1800" b="1">
                <a:solidFill>
                  <a:srgbClr val="818CF8"/>
                </a:solidFill>
                <a:latin typeface="Helvetica"/>
              </a:defRPr>
            </a:pPr>
            <a:r>
              <a:t>Institution &amp; Award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Awarding University: UWE Bristol (UK).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Delivered at: The British College (TBC), Kathmandu, Nepal.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Module Code: UFCFAS-15-2 (15 UK Credits / 7.5 ECTS).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Level: Level 5 (Year 2 Computing).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All assessments and moderation adhere to UWE Bristol standards.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828800"/>
            <a:ext cx="51206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56032" bIns="256032"/>
          <a:lstStyle/>
          <a:p>
            <a:pPr algn="ctr"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TEAM</a:t>
            </a:r>
          </a:p>
          <a:p>
            <a:pPr>
              <a:spcAft>
                <a:spcPts val="1000"/>
              </a:spcAft>
              <a:defRPr sz="1800" b="1">
                <a:solidFill>
                  <a:srgbClr val="818CF8"/>
                </a:solidFill>
                <a:latin typeface="Helvetica"/>
              </a:defRPr>
            </a:pPr>
            <a:r>
              <a:t>Teaching &amp; Module Team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Local Delivery Lead: Sudan Pudasaini (Lectures, Labs, Mentorship).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UWE Module Leader: Prof. Jun Hong (Jun.Hong@uwe.ac.uk).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UWE Module Tutors: Dr. Nathan Duran, Dr. Muhammad Khan.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Office Hours: Available at TBC Faculty Office &amp; GitHub Discussions.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Email &amp; Issue Tracking: Dedicated channels for all queries.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Helvetica"/>
              </a:defRPr>
            </a:pPr>
            <a:r>
              <a:t>MACHINE LEARNING (UFCFAS-15-2) · WEEK 1 · CLASS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Helvetica"/>
              </a:defRPr>
            </a:pPr>
            <a:r>
              <a:t>Our 3-Class-Per-Week Delivery Rhythm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72865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32918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56032" bIns="256032"/>
          <a:lstStyle/>
          <a:p>
            <a:pPr algn="ctr"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SESSION 1</a:t>
            </a:r>
          </a:p>
          <a:p>
            <a:pPr>
              <a:spcAft>
                <a:spcPts val="1000"/>
              </a:spcAft>
              <a:defRPr sz="1800" b="1">
                <a:solidFill>
                  <a:srgbClr val="818CF8"/>
                </a:solidFill>
                <a:latin typeface="Helvetica"/>
              </a:defRPr>
            </a:pPr>
            <a:r>
              <a:t>Class 1 (Today)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Concept &amp; Orientation.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Big-picture architectural intuition.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Trade-offs &amp; algorithmic choices.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Real-world application context.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Connecting theory to industry.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1828800"/>
            <a:ext cx="32918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56032" bIns="256032"/>
          <a:lstStyle/>
          <a:p>
            <a:pPr algn="ctr"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SESSION 2</a:t>
            </a:r>
          </a:p>
          <a:p>
            <a:pPr>
              <a:spcAft>
                <a:spcPts val="1000"/>
              </a:spcAft>
              <a:defRPr sz="1800" b="1">
                <a:solidFill>
                  <a:srgbClr val="818CF8"/>
                </a:solidFill>
                <a:latin typeface="Helvetica"/>
              </a:defRPr>
            </a:pPr>
            <a:r>
              <a:t>Class 2 (Tomorrow)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Technical Deep Dive.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Mathematical foundations without dry proofs.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Algorithm mechanics &amp; optimization.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Vectorized formulas &amp; notation.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Code walkthroughs &amp; edge cases.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1828800"/>
            <a:ext cx="32918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56032" bIns="256032"/>
          <a:lstStyle/>
          <a:p>
            <a:pPr algn="ctr"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SESSION 3</a:t>
            </a:r>
          </a:p>
          <a:p>
            <a:pPr>
              <a:spcAft>
                <a:spcPts val="1000"/>
              </a:spcAft>
              <a:defRPr sz="1800" b="1">
                <a:solidFill>
                  <a:srgbClr val="818CF8"/>
                </a:solidFill>
                <a:latin typeface="Helvetica"/>
              </a:defRPr>
            </a:pPr>
            <a:r>
              <a:t>Class 3 (Lab)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Hands-on Coding Lab.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Building from scratch in NumPy first.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Fitting production Scikit-Learn models.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Executing Jupyter notebooks in Docker.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GitHub Org push &amp; Orbund submission.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Helvetica"/>
              </a:defRPr>
            </a:pPr>
            <a:r>
              <a:t>MACHINE LEARNING (UFCFAS-15-2) · WEEK 1 · CLASS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Helvetica"/>
              </a:defRPr>
            </a:pPr>
            <a:r>
              <a:t>How We Are Going to Learn: The 3 Core Pillars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72865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32918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56032" bIns="256032"/>
          <a:lstStyle/>
          <a:p>
            <a:pPr algn="ctr"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PILLAR 1</a:t>
            </a:r>
          </a:p>
          <a:p>
            <a:pPr>
              <a:spcAft>
                <a:spcPts val="1000"/>
              </a:spcAft>
              <a:defRPr sz="1800" b="1">
                <a:solidFill>
                  <a:srgbClr val="818CF8"/>
                </a:solidFill>
                <a:latin typeface="Helvetica"/>
              </a:defRPr>
            </a:pPr>
            <a:r>
              <a:t>1. Grounded Intuition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Understand why an algorithm optimizes.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Visualize geometric loss landscapes.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Why does gradient descent find the bowl bottom?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Mental models before library calls.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1828800"/>
            <a:ext cx="32918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56032" bIns="256032"/>
          <a:lstStyle/>
          <a:p>
            <a:pPr algn="ctr"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PILLAR 2</a:t>
            </a:r>
          </a:p>
          <a:p>
            <a:pPr>
              <a:spcAft>
                <a:spcPts val="1000"/>
              </a:spcAft>
              <a:defRPr sz="1800" b="1">
                <a:solidFill>
                  <a:srgbClr val="818CF8"/>
                </a:solidFill>
                <a:latin typeface="Helvetica"/>
              </a:defRPr>
            </a:pPr>
            <a:r>
              <a:t>2. Production Craft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NumPy vectorization first.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Then master Scikit-Learn pipelines.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Reproducible experiments via Docker.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High-performance, clean Python code.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1828800"/>
            <a:ext cx="32918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56032" bIns="256032"/>
          <a:lstStyle/>
          <a:p>
            <a:pPr algn="ctr"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PILLAR 3</a:t>
            </a:r>
          </a:p>
          <a:p>
            <a:pPr>
              <a:spcAft>
                <a:spcPts val="1000"/>
              </a:spcAft>
              <a:defRPr sz="1800" b="1">
                <a:solidFill>
                  <a:srgbClr val="818CF8"/>
                </a:solidFill>
                <a:latin typeface="Helvetica"/>
              </a:defRPr>
            </a:pPr>
            <a:r>
              <a:t>3. Critical Evaluation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High training accuracy is often an illusion.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Audit models for overfitting and data leakage.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Diagnose dataset bias and failure modes.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Evaluate honestly on held-out test splits.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Helvetica"/>
              </a:defRPr>
            </a:pPr>
            <a:r>
              <a:t>MACHINE LEARNING (UFCFAS-15-2) · WEEK 1 · CLASS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Helvetica"/>
              </a:defRPr>
            </a:pPr>
            <a:r>
              <a:t>University Expectations (Level 5 Academic Rigor)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72865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1206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56032" bIns="256032"/>
          <a:lstStyle/>
          <a:p>
            <a:pPr algn="ctr"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OWNERSHIP</a:t>
            </a:r>
          </a:p>
          <a:p>
            <a:pPr>
              <a:spcAft>
                <a:spcPts val="1000"/>
              </a:spcAft>
              <a:defRPr sz="1800" b="1">
                <a:solidFill>
                  <a:srgbClr val="818CF8"/>
                </a:solidFill>
                <a:latin typeface="Helvetica"/>
              </a:defRPr>
            </a:pPr>
            <a:r>
              <a:t>Intellectual Ownership &amp; Independence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You are the author and architect of your models and experiments.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Passive attendance will not yield working systems.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Take initiative in testing hyperparameters and datasets.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Engage actively in question-and-answer discussions.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Read supplementary documentation and papers.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828800"/>
            <a:ext cx="51206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56032" bIns="256032"/>
          <a:lstStyle/>
          <a:p>
            <a:pPr algn="ctr"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EMPIRICAL RIGOR</a:t>
            </a:r>
          </a:p>
          <a:p>
            <a:pPr>
              <a:spcAft>
                <a:spcPts val="1000"/>
              </a:spcAft>
              <a:defRPr sz="1800" b="1">
                <a:solidFill>
                  <a:srgbClr val="818CF8"/>
                </a:solidFill>
                <a:latin typeface="Helvetica"/>
              </a:defRPr>
            </a:pPr>
            <a:r>
              <a:t>Empirical Evidence &amp; Scientific Method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Never say 'my model works' without empirical justification.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Report metrics: Loss curves, Confusion Matrices, F1, MSE.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Compare performance against a baseline model.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Code must be fully reproducible end-to-end.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Cite academic sources and methodology clearly.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Helvetica"/>
              </a:defRPr>
            </a:pPr>
            <a:r>
              <a:t>MACHINE LEARNING (UFCFAS-15-2) · WEEK 1 · CLASS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Helvetica"/>
              </a:defRPr>
            </a:pPr>
            <a:r>
              <a:t>The Non-Negotiable 'Must-Do's'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72865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1206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56032" bIns="256032"/>
          <a:lstStyle/>
          <a:p>
            <a:pPr algn="ctr"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ENVIRONMENT &amp; CODE</a:t>
            </a:r>
          </a:p>
          <a:p>
            <a:pPr>
              <a:spcAft>
                <a:spcPts val="1000"/>
              </a:spcAft>
              <a:defRPr sz="1800" b="1">
                <a:solidFill>
                  <a:srgbClr val="818CF8"/>
                </a:solidFill>
                <a:latin typeface="Helvetica"/>
              </a:defRPr>
            </a:pPr>
            <a:r>
              <a:t>Setup &amp; Execution Rules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1. Environment Setup Complete by Tomorrow: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Docker Desktop and GitHub accounts verified.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2. Notebooks MUST Have Executed Cell Outputs: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Submitting blank code cells with no outputs = zero mark.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Outputs prove your models actually trained and ran.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Automated CI/CD checks for output cells on every push.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828800"/>
            <a:ext cx="51206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56032" bIns="256032"/>
          <a:lstStyle/>
          <a:p>
            <a:pPr algn="ctr"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ACCOUNTABILITY</a:t>
            </a:r>
          </a:p>
          <a:p>
            <a:pPr>
              <a:spcAft>
                <a:spcPts val="1000"/>
              </a:spcAft>
              <a:defRPr sz="1800" b="1">
                <a:solidFill>
                  <a:srgbClr val="818CF8"/>
                </a:solidFill>
                <a:latin typeface="Helvetica"/>
              </a:defRPr>
            </a:pPr>
            <a:r>
              <a:t>Commit Cadence &amp; Individual Work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3. Consistent Git Commit History: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Commit incrementally as you build. No mass uploads 5 min before deadline.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4. Individual Authorship (No Free-Riders):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This is a 100% individual module (Group Work: No).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Code authorship is tracked via Git commit history.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All software and written analysis must be your own.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Helvetica"/>
              </a:defRPr>
            </a:pPr>
            <a:r>
              <a:t>MACHINE LEARNING (UFCFAS-15-2) · WEEK 1 · CLASS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Helvetica"/>
              </a:defRPr>
            </a:pPr>
            <a:r>
              <a:t>12-Week Semester Content Roadmap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72865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32918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56032" bIns="256032"/>
          <a:lstStyle/>
          <a:p>
            <a:pPr algn="ctr"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PHASE 1</a:t>
            </a:r>
          </a:p>
          <a:p>
            <a:pPr>
              <a:spcAft>
                <a:spcPts val="1000"/>
              </a:spcAft>
              <a:defRPr sz="1800" b="1">
                <a:solidFill>
                  <a:srgbClr val="818CF8"/>
                </a:solidFill>
                <a:latin typeface="Helvetica"/>
              </a:defRPr>
            </a:pPr>
            <a:r>
              <a:t>Weeks 1–3: Foundations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W1: Linear Regression &amp; Gradient Descent.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W2: Logistic Regression &amp; Decision Boundaries.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W3: End-to-End ML Workflow, Feature Engineering &amp; Ethics.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Datasets: Titanic &amp; SUV with Scikit-Learn.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1828800"/>
            <a:ext cx="32918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56032" bIns="256032"/>
          <a:lstStyle/>
          <a:p>
            <a:pPr algn="ctr"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PHASE 2</a:t>
            </a:r>
          </a:p>
          <a:p>
            <a:pPr>
              <a:spcAft>
                <a:spcPts val="1000"/>
              </a:spcAft>
              <a:defRPr sz="1800" b="1">
                <a:solidFill>
                  <a:srgbClr val="818CF8"/>
                </a:solidFill>
                <a:latin typeface="Helvetica"/>
              </a:defRPr>
            </a:pPr>
            <a:r>
              <a:t>Weeks 4–7: Classical &amp; Ensembles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W4–5: Support Vector Machines (SVM) &amp; Kernels.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W6: Decision Trees &amp; Random Forests (Bagging).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W7: Boosting &amp; AdaBoost.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Focus: Realities of handling data &amp; imbalanced sets.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1828800"/>
            <a:ext cx="32918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56032" bIns="256032"/>
          <a:lstStyle/>
          <a:p>
            <a:pPr algn="ctr"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PHASE 3</a:t>
            </a:r>
          </a:p>
          <a:p>
            <a:pPr>
              <a:spcAft>
                <a:spcPts val="1000"/>
              </a:spcAft>
              <a:defRPr sz="1800" b="1">
                <a:solidFill>
                  <a:srgbClr val="818CF8"/>
                </a:solidFill>
                <a:latin typeface="Helvetica"/>
              </a:defRPr>
            </a:pPr>
            <a:r>
              <a:t>Weeks 8–12: Deep Learning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W8: Artificial Neural Networks (ANN).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W9: Convolutional Neural Networks (CNN).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W10–12: Deep Learning Implementation &amp; Tuning.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Final Summative Submission: 100% Individual Project.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Helvetica"/>
              </a:defRPr>
            </a:pPr>
            <a:r>
              <a:t>MACHINE LEARNING (UFCFAS-15-2) · WEEK 1 · CLASS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Helvetica"/>
              </a:defRPr>
            </a:pPr>
            <a:r>
              <a:t>Assessment Structure (UWE Approved Specification)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72865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32918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56032" bIns="256032"/>
          <a:lstStyle/>
          <a:p>
            <a:pPr algn="ctr"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FORMATIVE</a:t>
            </a:r>
          </a:p>
          <a:p>
            <a:pPr>
              <a:spcAft>
                <a:spcPts val="1000"/>
              </a:spcAft>
              <a:defRPr sz="1800" b="1">
                <a:solidFill>
                  <a:srgbClr val="818CF8"/>
                </a:solidFill>
                <a:latin typeface="Helvetica"/>
              </a:defRPr>
            </a:pPr>
            <a:r>
              <a:t>Formative Labs (0%)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Weekly in-lab practical exercises.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One-to-one demonstrations to tutors.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Provides continuous formative feedback.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Immediate code review &amp; debugging support.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1828800"/>
            <a:ext cx="32918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56032" bIns="256032"/>
          <a:lstStyle/>
          <a:p>
            <a:pPr algn="ctr"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SUMMATIVE A</a:t>
            </a:r>
          </a:p>
          <a:p>
            <a:pPr>
              <a:spcAft>
                <a:spcPts val="1000"/>
              </a:spcAft>
              <a:defRPr sz="1800" b="1">
                <a:solidFill>
                  <a:srgbClr val="818CF8"/>
                </a:solidFill>
                <a:latin typeface="Helvetica"/>
              </a:defRPr>
            </a:pPr>
            <a:r>
              <a:t>Software Artifact (Part of 100%)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Individual ML software production.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End-to-end real-world problem solution.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Data preprocessing, training, testing.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Tests Learning Outcomes: MO1, MO2, MO3.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1828800"/>
            <a:ext cx="32918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56032" bIns="256032"/>
          <a:lstStyle/>
          <a:p>
            <a:pPr algn="ctr"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SUMMATIVE B</a:t>
            </a:r>
          </a:p>
          <a:p>
            <a:pPr>
              <a:spcAft>
                <a:spcPts val="1000"/>
              </a:spcAft>
              <a:defRPr sz="1800" b="1">
                <a:solidFill>
                  <a:srgbClr val="818CF8"/>
                </a:solidFill>
                <a:latin typeface="Helvetica"/>
              </a:defRPr>
            </a:pPr>
            <a:r>
              <a:t>6-Page Report (Part of 100%)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Online submission via Orbund.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Follows official UWE formatting guidelines.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Problem formulation &amp; algorithm choice.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Empirical testing, evaluation &amp; ethics.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Group Work: NO (100% Individual Project).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Helvetica"/>
              </a:defRPr>
            </a:pPr>
            <a:r>
              <a:t>MACHINE LEARNING (UFCFAS-15-2) · WEEK 1 · CLASS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Helvetica"/>
              </a:defRPr>
            </a:pPr>
            <a:r>
              <a:t>The Modernized Delivery Tooling (neo_ML)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72865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32918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56032" bIns="256032"/>
          <a:lstStyle/>
          <a:p>
            <a:pPr algn="ctr"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ENVIRONMENT</a:t>
            </a:r>
          </a:p>
          <a:p>
            <a:pPr>
              <a:spcAft>
                <a:spcPts val="1000"/>
              </a:spcAft>
              <a:defRPr sz="1800" b="1">
                <a:solidFill>
                  <a:srgbClr val="818CF8"/>
                </a:solidFill>
                <a:latin typeface="Helvetica"/>
              </a:defRPr>
            </a:pPr>
            <a:r>
              <a:t>Docker Containers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Eliminates 'it works on my machine'.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Python 3.12, JupyterLab 4, Scikit-Learn locked in.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Zero package collision across Mac, Win, Linux.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Runs completely locally without server lag.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1828800"/>
            <a:ext cx="32918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56032" bIns="256032"/>
          <a:lstStyle/>
          <a:p>
            <a:pPr algn="ctr"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PLATFORMS</a:t>
            </a:r>
          </a:p>
          <a:p>
            <a:pPr>
              <a:spcAft>
                <a:spcPts val="1000"/>
              </a:spcAft>
              <a:defRPr sz="1800" b="1">
                <a:solidFill>
                  <a:srgbClr val="818CF8"/>
                </a:solidFill>
                <a:latin typeface="Helvetica"/>
              </a:defRPr>
            </a:pPr>
            <a:r>
              <a:t>GitHub Org &amp; Orbund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Personal repo in course GitHub Organization.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Automated CI/CD runner tests every push.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Official assignments &amp; grading on Orbund.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Commit log is your authentic portfolio.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1828800"/>
            <a:ext cx="32918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56032" bIns="256032"/>
          <a:lstStyle/>
          <a:p>
            <a:pPr algn="ctr"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TOOLING</a:t>
            </a:r>
          </a:p>
          <a:p>
            <a:pPr>
              <a:spcAft>
                <a:spcPts val="1000"/>
              </a:spcAft>
              <a:defRPr sz="1800" b="1">
                <a:solidFill>
                  <a:srgbClr val="818CF8"/>
                </a:solidFill>
                <a:latin typeface="Helvetica"/>
              </a:defRPr>
            </a:pPr>
            <a:r>
              <a:t>Modern IDE &amp; Notebooks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VS Code + Python &amp; Jupyter extensions.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Interactive debugging in notebooks.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Seamless Git integration in editor.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Industry-standard toolchain.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Helvetica"/>
              </a:defRPr>
            </a:pPr>
            <a:r>
              <a:t>MACHINE LEARNING (UFCFAS-15-2) · WEEK 1 · CLASS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Helvetica"/>
              </a:defRPr>
            </a:pPr>
            <a:r>
              <a:t>AI Coding Policy: 'Co-Pilot, Never Auto-Pilot'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72865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1206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56032" bIns="256032"/>
          <a:lstStyle/>
          <a:p>
            <a:pPr algn="ctr"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GREEN LIGHT</a:t>
            </a:r>
          </a:p>
          <a:p>
            <a:pPr>
              <a:spcAft>
                <a:spcPts val="1000"/>
              </a:spcAft>
              <a:defRPr sz="1800" b="1">
                <a:solidFill>
                  <a:srgbClr val="818CF8"/>
                </a:solidFill>
                <a:latin typeface="Helvetica"/>
              </a:defRPr>
            </a:pPr>
            <a:r>
              <a:t>Allowed &amp; Encouraged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Asking AI to explain cryptic error stack traces.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Querying syntax or library documentation.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Brainstorming hyperparameter search ranges.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Generating unit tests and plotting boilerplate.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Asking AI to explain mathematical intuitions.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828800"/>
            <a:ext cx="51206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56032" bIns="256032"/>
          <a:lstStyle/>
          <a:p>
            <a:pPr algn="ctr"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RED LIGHT</a:t>
            </a:r>
          </a:p>
          <a:p>
            <a:pPr>
              <a:spcAft>
                <a:spcPts val="1000"/>
              </a:spcAft>
              <a:defRPr sz="1800" b="1">
                <a:solidFill>
                  <a:srgbClr val="818CF8"/>
                </a:solidFill>
                <a:latin typeface="Helvetica"/>
              </a:defRPr>
            </a:pPr>
            <a:r>
              <a:t>Strictly Prohibited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Copying blocks of code you cannot explain line-by-line.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Having AI write your 6-page project report.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Generating project analysis via generative AI.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Submitting unverified, unexecuted AI hallucinated code.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Rule: Weekly REFLECTION.md log required with every push!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Helvetica"/>
              </a:defRPr>
            </a:pPr>
            <a:r>
              <a:t>MACHINE LEARNING (UFCFAS-15-2) · WEEK 1 · CLASS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Helvetica"/>
              </a:defRPr>
            </a:pPr>
            <a:r>
              <a:t>Recommended Books &amp; Learning Resources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72865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1206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56032" bIns="256032"/>
          <a:lstStyle/>
          <a:p>
            <a:pPr algn="ctr"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LITERATURE</a:t>
            </a:r>
          </a:p>
          <a:p>
            <a:pPr>
              <a:spcAft>
                <a:spcPts val="1000"/>
              </a:spcAft>
              <a:defRPr sz="1800" b="1">
                <a:solidFill>
                  <a:srgbClr val="818CF8"/>
                </a:solidFill>
                <a:latin typeface="Helvetica"/>
              </a:defRPr>
            </a:pPr>
            <a:r>
              <a:t>Primary Textbooks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Hands-On Machine Learning with Scikit-Learn, Keras &amp; TensorFlow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By Aurélien Géron (3rd Edition, O'Reilly) - The practical bible.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Artificial Intelligence: A Modern Approach (4th Ed.)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By Stuart Russell and Peter Norvig - Theoretical foundations.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Neural Networks and Deep Learning by Michael Nielsen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Free online textbook: neuralnetworksanddeeplearning.com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828800"/>
            <a:ext cx="51206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56032" bIns="256032"/>
          <a:lstStyle/>
          <a:p>
            <a:pPr algn="ctr"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DOCUMENTATION</a:t>
            </a:r>
          </a:p>
          <a:p>
            <a:pPr>
              <a:spcAft>
                <a:spcPts val="1000"/>
              </a:spcAft>
              <a:defRPr sz="1800" b="1">
                <a:solidFill>
                  <a:srgbClr val="818CF8"/>
                </a:solidFill>
                <a:latin typeface="Helvetica"/>
              </a:defRPr>
            </a:pPr>
            <a:r>
              <a:t>Documentation &amp; Online Tools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Scikit-Learn Official User Guide (scikit-learn.org).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NumPy &amp; Pandas Documentation for vector operations.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Google Colab (for free GPU acceleration during deep learning).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GitHub Discussions in our course organization for technical Q&amp;A.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Helvetica"/>
              </a:defRPr>
            </a:pPr>
            <a:r>
              <a:t>MACHINE LEARNING (UFCFAS-15-2) · WEEK 1 · CLASS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Helvetica"/>
              </a:defRPr>
            </a:pPr>
            <a:r>
              <a:t>Your Action Checklist Before Class 2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72865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32918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56032" bIns="256032"/>
          <a:lstStyle/>
          <a:p>
            <a:pPr algn="ctr"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ACTION 1</a:t>
            </a:r>
          </a:p>
          <a:p>
            <a:pPr>
              <a:spcAft>
                <a:spcPts val="1000"/>
              </a:spcAft>
              <a:defRPr sz="1800" b="1">
                <a:solidFill>
                  <a:srgbClr val="818CF8"/>
                </a:solidFill>
                <a:latin typeface="Helvetica"/>
              </a:defRPr>
            </a:pPr>
            <a:r>
              <a:t>1. GitHub Org &amp; Orbund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Join Course GitHub Org via invite link.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Verify your Orbund course registration.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Apply for GitHub Student Developer Pack.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Activate free GitHub Copilot.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1828800"/>
            <a:ext cx="32918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56032" bIns="256032"/>
          <a:lstStyle/>
          <a:p>
            <a:pPr algn="ctr"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ACTION 2</a:t>
            </a:r>
          </a:p>
          <a:p>
            <a:pPr>
              <a:spcAft>
                <a:spcPts val="1000"/>
              </a:spcAft>
              <a:defRPr sz="1800" b="1">
                <a:solidFill>
                  <a:srgbClr val="818CF8"/>
                </a:solidFill>
                <a:latin typeface="Helvetica"/>
              </a:defRPr>
            </a:pPr>
            <a:r>
              <a:t>2. Docker Setup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Install Docker Desktop on your machine.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Verify via: docker --version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Pull Week 1 image: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docker pull ghcr.io/sudan23/ml:week1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Test opening http://localhost:8888.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1828800"/>
            <a:ext cx="32918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56032" bIns="256032"/>
          <a:lstStyle/>
          <a:p>
            <a:pPr algn="ctr"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ACTION 3</a:t>
            </a:r>
          </a:p>
          <a:p>
            <a:pPr>
              <a:spcAft>
                <a:spcPts val="1000"/>
              </a:spcAft>
              <a:defRPr sz="1800" b="1">
                <a:solidFill>
                  <a:srgbClr val="818CF8"/>
                </a:solidFill>
                <a:latin typeface="Helvetica"/>
              </a:defRPr>
            </a:pPr>
            <a:r>
              <a:t>3. Onboarding Guide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Read neo_ML/onboarding/onboarding.md.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Review the course syllabus and schedule.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Start brainstorming potential project domains.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Come ready to dive into ML theory tomorrow!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Helvetica"/>
              </a:defRPr>
            </a:pPr>
            <a:r>
              <a:t>MACHINE LEARNING (UFCFAS-15-2) · WEEK 1 · CLASS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Helvetica"/>
              </a:defRPr>
            </a:pPr>
            <a:r>
              <a:t>Looking Ahead to Class 2 &amp; Open Floor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1072865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1206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56032" bIns="256032"/>
          <a:lstStyle/>
          <a:p>
            <a:pPr algn="ctr"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NEXT SESSION</a:t>
            </a:r>
          </a:p>
          <a:p>
            <a:pPr>
              <a:spcAft>
                <a:spcPts val="1000"/>
              </a:spcAft>
              <a:defRPr sz="1800" b="1">
                <a:solidFill>
                  <a:srgbClr val="818CF8"/>
                </a:solidFill>
                <a:latin typeface="Helvetica"/>
              </a:defRPr>
            </a:pPr>
            <a:r>
              <a:t>Coming Up in Class 2 (Tomorrow)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The Learning Problem: What makes ML work?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Supervised Learning: Features X, Labels y, Hypothesis h_theta(x).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Linear Regression: Univariate and Multivariate modeling.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Mean Squared Error (MSE): The geometry of convex cost.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Gradient Descent: Walking down the foggy mountain valley.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828800"/>
            <a:ext cx="51206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256032" bIns="256032"/>
          <a:lstStyle/>
          <a:p>
            <a:pPr algn="ctr">
              <a:defRPr sz="1000" b="1">
                <a:solidFill>
                  <a:srgbClr val="38BDF8"/>
                </a:solidFill>
                <a:latin typeface="Helvetica"/>
              </a:defRPr>
            </a:pPr>
            <a:r>
              <a:t>DISCUSSION</a:t>
            </a:r>
          </a:p>
          <a:p>
            <a:pPr>
              <a:spcAft>
                <a:spcPts val="1000"/>
              </a:spcAft>
              <a:defRPr sz="1800" b="1">
                <a:solidFill>
                  <a:srgbClr val="818CF8"/>
                </a:solidFill>
                <a:latin typeface="Helvetica"/>
              </a:defRPr>
            </a:pPr>
            <a:r>
              <a:t>Open Floor: Questions &amp; Discussion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Questions on syllabus, deadlines, or credit breakdown?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Questions on Docker, GitHub Org, or Orbund?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Questions on assessment criteria or the 6-page report?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Lecturer: Sudan Pudasaini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Helvetica"/>
              </a:defRPr>
            </a:pPr>
            <a:r>
              <a:t>•  Let's build systems that actually learn! 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