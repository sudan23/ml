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THE BRITISH COLLEGE NEPAL · UWE BRISTOL</a:t>
            </a:r>
          </a:p>
          <a:p>
            <a:pPr>
              <a:defRPr sz="4200" b="1">
                <a:solidFill>
                  <a:srgbClr val="F8FAFC"/>
                </a:solidFill>
                <a:latin typeface="Helvetica"/>
              </a:defRPr>
            </a:pPr>
            <a:r>
              <a:t>Machine Learning (UFCFAS-15-2)</a:t>
            </a:r>
          </a:p>
          <a:p>
            <a:pPr>
              <a:spcAft>
                <a:spcPts val="2400"/>
              </a:spcAft>
              <a:defRPr sz="2200">
                <a:solidFill>
                  <a:srgbClr val="818CF8"/>
                </a:solidFill>
                <a:latin typeface="Helvetica"/>
              </a:defRPr>
            </a:pPr>
            <a:r>
              <a:t>Week 1 · Class 1: Course Orientation &amp; Overview</a:t>
            </a:r>
          </a:p>
          <a:p>
            <a:pPr>
              <a:defRPr sz="1400">
                <a:solidFill>
                  <a:srgbClr val="94A3B8"/>
                </a:solidFill>
                <a:latin typeface="Helvetica"/>
              </a:defRPr>
            </a:pPr>
            <a:r>
              <a:t>Lecturer: Sudan Pudasaini · Module Leader (UWE): Prof. Jun Hong</a:t>
            </a:r>
            <a:br/>
            <a:r>
              <a:t>Welcome, Expectations, Roadmap &amp; Modern Delivery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Welcome &amp; Reading the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ICEBREAKER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Show of Hands &amp; Background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Who feels confident writing functions and data scripts in Python?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Who has manipulated data with NumPy, Pandas, or Matplotlib?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Who has previously trained a model in Scikit-Learn or PyTorch?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Who uses GitHub Copilot, ChatGPT, or Claude in their daily workflow?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Our goal: Bridge the gap from novice scripter to ML engineer.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PHILOSOPHY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The Level 6 Mindset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Machine Learning is NOT black-box memorization.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It is NOT just dry mathematical proofs either.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It IS empirical software engineering.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Designing systems that learn from data.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Knowing how to benchmark and evaluate them honestly.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Academic Partnership &amp; Module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PARTNERSHIP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Institution &amp; Award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Awarding University: UWE Bristol (UK).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Delivered at: The British College (TBC), Kathmandu, Nepal.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Module Code: UFCFAS-15-2 (15 UK Credits).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Level: Level 6 (Final Year Computing).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All assessments and moderation adhere to UWE Bristol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TEAM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Teaching &amp; Module Team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Local Delivery Lead: Sudan Pudasaini (Lectures, Labs, Mentorship).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UWE Module Leader: Prof. Jun Hong (Jun.Hong@uwe.ac.uk).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UWE Module Tutors: Dr. Nathan Duran, Dr. Muhammad Khan.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Office Hours: Available at TBC Faculty Office &amp; GitHub Discussions.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Email &amp; Issue Tracking: Dedicated channels for all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Our 3-Class-Per-Week Delivery Rhythm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SESSION 1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Class 1 (Today)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Concept &amp; Orientation.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Big-picture architectural intuition.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Trade-offs &amp; algorithmic choices.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Real-world application context.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Connecting theory to industry.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SESSION 2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Class 2 (Tomorrow)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Technical Deep Dive.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Mathematical foundations without dry proofs.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Algorithm mechanics &amp; optimization.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Vectorized formulas &amp; notation.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Code walkthroughs &amp; edge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SESSION 3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Class 3 (Lab)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Hands-on Coding Lab.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Building from scratch in NumPy first.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Fitting production Scikit-Learn models.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Executing Jupyter notebooks in Docker.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GitHub Classroom push &amp;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How We Are Going to Learn: The 3 Core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PILLAR 1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1. Grounded Intuition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Understand why an algorithm optimizes.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Visualize geometric loss landscapes.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Why does gradient descent find the bowl bottom?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Mental models before library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PILLAR 2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2. Production Craft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NumPy vectorization first.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Then master Scikit-Learn pipelines.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Reproducible experiments via Docker.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High-performance, clean Python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PILLAR 3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3. Critical Evaluation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High training accuracy is often an illusion.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Audit models for overfitting and data leakage.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Diagnose dataset bias and failure modes.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Evaluate honestly on held-out test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University Expectations (Level 6 Academic Rigor)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OWNERSHIP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Intellectual Ownership &amp; Independence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You are the architect of your models and experiments.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Passive attendance will not yield working systems.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Take initiative in testing hyperparameters and datasets.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Engage actively in question-and-answer discussions.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Read supplementary documentation and papers.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EMPIRICAL RIGOR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Empirical Evidence &amp; Scientific Method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Never say 'my model works' without empirical justification.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Report metrics: Loss curves, Confusion Matrices, F1, MSE.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Compare performance against a trivial baseline model.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Code must be fully reproducible end-to-end.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Cite academic sources and methodology clearly.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The Non-Negotiable 'Must-Do's'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ENVIRONMENT &amp; CODE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Setup &amp; Execution Rules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1. Environment Setup Complete by Tomorrow: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Docker Desktop and GitHub accounts verified.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2. Notebooks MUST Have Executed Cell Outputs: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Submitting blank code cells with no outputs = zero mark.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Outputs prove your models actually trained and ran.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Automated CI/CD checks for output cells on every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ACCOUNTABILITY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Commit Cadence &amp; Team Ethics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3. Consistent Git Commit History: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Commit incrementally as you build. No mass uploads 5 min before deadline.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4. Zero Team Ghosting: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Group project scores are weighted by individual Git commit blame.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No commits = No individual contribution mark.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Respect your peers and communicate 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12-Week Semester Content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1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1–3: Foundations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W1: Linear Regression &amp; Gradient Descent.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W2: Logistic Regression &amp; Decision Boundaries.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W3: End-to-End ML Workflow, Feature Engineering &amp; Ethics.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Datasets: Titanic &amp; SUV with Scikit-Learn.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2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4–7: Classical &amp; Ensembles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W4–5: Support Vector Machines (SVM) &amp; Kernels.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W6: Decision Trees &amp; Random Forests (Bagging).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W7: Boosting &amp; AdaBoost.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Milestone: Group Project Proposal Due (10%).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3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8–12: Deep Learning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W8: Artificial Neural Networks (ANN).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W9: Convolutional Neural Networks (CNN).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Milestone: Individual Assignment Due (30%).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W10–12: Deep Learning Group Project (60%).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Assessment Structure &amp; Grade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ASSESSMENT 1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Group Proposal (10%)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Due: Week 7 in lab.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Form teams of 3–4 members.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Define problem statement and real dataset.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Propose baseline model &amp; deep learning approach.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ASSESSMENT 2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Individual Assignment (30%)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Due: Week 9.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Select 1 dataset, implement 2 distinct ML algorithms.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Perform data cleaning, validation, tuning.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Compare performance metrics in a written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ASSESSMENT 3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Group Project (60%)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Due: Week 12 Final Hand-in.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End-to-end Deep Learning system (CNN / DNN).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Live team presentation &amp; code defense.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Git commit history verifies individual effort!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The Modernized Delivery Tooling (neo_ML)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ENVIRONMENT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Docker Containers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Eliminates 'it works on my machine'.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Python 3.12, JupyterLab 4, Scikit-Learn locked 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Zero package collision across Mac, Win, Linux.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Runs completely locally without server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CI / CD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GitHub Classroom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Personal repo for every student.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Automated CI/CD runner tests every push.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Checks code execution &amp; cell outputs.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Commit log is your portfolio.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TOOLING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Modern IDE &amp; Notebooks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VS Code + Python &amp; Jupyter extensions.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Interactive debugging in notebooks.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Seamless Git integration in editor.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Industry-standard toolchain.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AI Coding Policy: 'Co-Pilot, Never Auto-Pilot'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GREEN LIGHT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Allowed &amp; Encouraged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Asking AI to explain cryptic error stack traces.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Querying syntax or library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Brainstorming hyperparameter search ranges.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Generating unit tests and plotting boilerplate.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Asking AI to explain mathematical intuitions.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RED LIGHT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Strictly Prohibited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Copying blocks of code you cannot explain line-by-line.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Having AI write your individual assignment report.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Generating group project proposals via generative AI.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Submitting unverified, unexecuted AI hallucinated code.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Rule: Weekly REFLECTION.md log required with every push!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Recommended Books &amp; Learning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LITERATURE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Primary Textbooks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Hands-On Machine Learning with Scikit-Learn, Keras &amp; TensorFlow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By Aurélien Géron (3rd Edition, O'Reilly) - The practical bible.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Artificial Intelligence: A Modern Approach (4th Ed.)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By Stuart Russell and Peter Norvig - Theoretical foundations.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Neural Networks and Deep Learning by Michael Nielsen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Free online textbook: neuralnetworksanddeeplearning.com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DOCUMENTATION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Documentation &amp; Online Tools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Scikit-Learn Official User Guide (scikit-learn.org).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NumPy &amp; Pandas Documentation for vector operations.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Google Colab (for free GPU acceleration during deep learning).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GitHub Discussions in our course organization for technical Q&amp;A.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Your Action Checklist Before Class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ACTION 1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1. GitHub Account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Join GitHub Classroom via invite link.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Apply for GitHub Student Developer Pack.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Activate free GitHub Copilot.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Link your student email address.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ACTION 2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2. Docker Setup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Install Docker Desktop on your machine.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Verify via: docker --version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Pull Week 1 image: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docker pull ghcr.io/lbu-courses/ml-course:week1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Test opening http://localhost:8888.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ACTION 3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3. Onboarding Guide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Read neo_ML/onboarding/onboarding.md.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Review the course syllabus and schedule.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Form initial connections with prospective group peers.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Come ready to dive into ML theory tomorrow!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Looking Ahead to Class 2 &amp; Open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NEXT SESSION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Coming Up in Class 2 (Tomorrow)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The Learning Problem: What makes ML work?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Supervised Learning: Features X, Labels y, Hypothesis h_theta(x).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Linear Regression: Univariate and Multivariate modeling.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Mean Squared Error (MSE): The geometry of convex cost.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Gradient Descent: Walking down the foggy mountain valley.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DISCUSSION</a:t>
            </a:r>
          </a:p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Open Floor: Questions &amp; Discussion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Questions on syllabus, deadlines, or credit breakdown?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Questions on Docker or GitHub Classroom workflow?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Questions on assessment criteria or group allocations?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Lecturer: Sudan Pudasaini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Helvetica"/>
              </a:defRPr>
            </a:pPr>
            <a:r>
              <a:t>•  Let's build systems that actually learn!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