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Helvetica"/>
              </a:defRPr>
            </a:pPr>
            <a:r>
              <a:t>THE BRITISH COLLEGE NEPAL · UWE BRISTOL</a:t>
            </a:r>
          </a:p>
          <a:p>
            <a:pPr>
              <a:defRPr sz="4400" b="1">
                <a:solidFill>
                  <a:srgbClr val="F8FAFC"/>
                </a:solidFill>
                <a:latin typeface="Helvetica"/>
              </a:defRPr>
            </a:pPr>
            <a:r>
              <a:t>Machine Learning</a:t>
            </a:r>
          </a:p>
          <a:p>
            <a:pPr>
              <a:spcAft>
                <a:spcPts val="2400"/>
              </a:spcAft>
              <a:defRPr sz="2200">
                <a:solidFill>
                  <a:srgbClr val="818CF8"/>
                </a:solidFill>
                <a:latin typeface="Helvetica"/>
              </a:defRPr>
            </a:pPr>
            <a:r>
              <a:t>Week 1: Module Welcome &amp; Linear Regression Fundamentals</a:t>
            </a:r>
          </a:p>
          <a:p>
            <a:pPr>
              <a:defRPr sz="1400">
                <a:solidFill>
                  <a:srgbClr val="94A3B8"/>
                </a:solidFill>
                <a:latin typeface="Helvetica"/>
              </a:defRPr>
            </a:pPr>
            <a:r>
              <a:t>Module: UFCFAS-15-2 · Level 6</a:t>
            </a:r>
            <a:br/>
            <a:r>
              <a:t>Lecturer: Sudan Pudasaini · Module Leader (UWE): Prof. Jun Hong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Welcome &amp; The 3 Core Principles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THEORY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1. Grounded Intuition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No black-box memorization.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Understand the geometry and math behind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Why does gradient descent move downhill?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Why does MSE have a single global minimum?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ENGINEERING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2. Production Craft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From scratch in NumPy first.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Then master Scikit-Learn pipelines.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Reproducible experiments with Docker.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Write vectorised, performant Python.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RIGOR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3. Critical Evaluation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Never trust a high training score.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Test for overfitting, data leakage &amp; bias.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Diagnose real-world edge case failures.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Measure honestly with test splits.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Module Architecture: The 12-Week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1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1–3: Foundations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W1: Linear Regression &amp; Gradient Descent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W2: Logistic Regression &amp; Decision Boundaries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W3: ML Workflow, Feature Engineering &amp; Ethics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Datasets: Titanic, SUV data with Scikit-Learn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2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4–7: Classical &amp; Ensembles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W4–5: Support Vector Machines (SVM) &amp; Kernels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W6: Decision Trees &amp; Random Forests (Bagging)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W7: Boosting &amp; AdaBoost Algorithms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Milestone: Group Proposal Due (10%)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PHASE 3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Weeks 8–12: Deep Learning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W8: Artificial Neural Networks (ANN)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W9: Convolutional Neural Networks (CNN)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Milestone: Individual Assignment Due (30%)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W10–12: Deep Learning Group Project (60%)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Assessment Structure &amp; Key Deliverables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MILESTONE 1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Group Proposal (10%)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Deadline: Week 7 (in lab).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Form teams of 3–4 students.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Define problem statement and real dataset.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Propose baseline model &amp; deep learning approach.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MILESTONE 2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Individual Assignment (30%)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Deadline: Week 9.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Select 1 dataset, implement 2 distinct ML algorithms.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Perform data cleaning, validation, tuning.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Compare performance metrics in a written report.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MILESTONE 3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Group Project (60%)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Deadline: Week 12 Final Hand-in.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End-to-end Deep Learning system (CNN / DNN).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Live team presentation &amp; code repository defense.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Git commits track individual contribution!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The Modernized Delivery Tooling (neo_ML)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DOCKER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Docker Environment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One command to launch JupyterLab 4.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Python 3.12, scikit-learn, NumPy pre-installed.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Zero version conflicts across Mac, Windows, Linux.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Runs locally without relying on external servers.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GITHUB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GitHub Classroom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Personal student repositories for weekly labs.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Automated CI/CD checks on every push.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Checks code execution (cell outputs must exist!).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Git commit history = proof of teamwork.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AI PAIRING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AI Policy with Rigor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GitHub Copilot &amp; Gemini encouraged for syntax.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Never blindly copy unexecuted solutions.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Weekly REFLECTION.md required with every push.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Rule: You must be able to explain every 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Conceptual Paradigm: Traditional Code vs Machine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EXPLICIT LOGIC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Traditional Programming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Input: Data + Explicit Rules (Code).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Output: Answers / Predictions.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Engineer manually specifies every logic condition.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Example: Hundreds of regex rules to detect spam.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Fails when rules become complex or non-linear.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LEARNED PARAMETERS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Machine Learning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Input: Data + Answers (Ground Truth Labels).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Output: Learned Rules (Model Parameters).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Algorithm optimizes internal weights theta from data.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Example: Model learns spam patterns automatically.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Adapts and generalizes to previously unseen examples.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Linear Regression: The Hypothesis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UNIVARIATE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Single Feature (1D)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Predict target y from one feature x1: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h_theta(x) = theta_0 + theta_1 * x_1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theta_0 = Intercept (Bias)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theta_1 = Slope (Weight / Coefficient)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Geometrically: A straight line through 2D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MULTIVARIATE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Multiple Features (Matrix Form)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Generalize to n features with dummy x0 = 1: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h_theta(x) = theta_0*x_0 + theta_1*x_1 + ... + theta_n*x_n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Vector form: h_theta(x) = theta^T * x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Dataset matrix form: y_pred = X * theta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Where X is (m x (n+1)) and theta is ((n+1) x 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Measuring Error: Mean Squared Error (MSE) Cost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MATHEMATICAL LOSS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The MSE Cost Formula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J(theta) = (1 / 2m) * sum((h_theta(x^(i)) - y^(i))^2)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Residual: Difference between predicted and actual.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Squaring errors: Heavily penalizes large misses.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Factor of 1/2: Conveniently cancels out in derivatives.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Goal: Find theta that minimizes J(theta).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OPTIMIZATION GEOMETRY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Why Convexity Matters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MSE for linear regression is strictly CONVEX.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Visual representation: A smooth, symmetric bowl.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There are ZERO local minima traps!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Every local minimum is guaranteed to be global.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Guarantees that gradient descent will find the optimum.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Optimization: Gradient Descent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INTUITION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The Descent Intuition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Foggy mountain: You cannot see the lowest valley.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Feel the ground: Identify the steepest uphill slope.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Take a step in the exact opposite direction (downhill).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Repeat iteratively until the slope is zero (flat ground).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Slope is computed via partial derivatives.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UPDATE FORMULA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The Parameter Update Rule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theta_j := theta_j - alpha * (d/d theta_j) J(theta)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alpha = Learning Rate (step size hyperparameter).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Partial derivative: (1/m) * sum((h_theta(x) - y) * x_j)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All parameters theta_0, ..., theta_n updated simultaneously.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Terminates when cost change is smaller than epsilon.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Hyperparameter Tuning: The Learning Rate (Alpha)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UNDERSTEPPING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Alpha Too Small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e.g., alpha = 0.00001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Steps are microscopic.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Requires tens of thousands of iterations to converge.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Wastes computing time and energy.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OPTIMAL STEP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Alpha Just Right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e.g., alpha = 0.01 / 0.1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Takes confident downhill strides.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Steps automatically shrink as slope flattens.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Converges smoothly to the minimum.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DIVERGENCE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Alpha Too Large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e.g., alpha = 2.0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Overshoots the bottom of the bowl.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Bounces up opposite walls.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Cost explodes towards infinity (diverges)!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From Theory to Code: Scratch vs Scikit-Learn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UNDER THE HOOD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From Scratch (NumPy Vectorization)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X_b = np.c_[np.ones((m, 1)), X]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gradients = (1/m) * X_b.T.dot(X_b.dot(theta) - y)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theta = theta - alpha * gradients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Reveals exactly how linear algebra powers ML.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Essential foundation for neural networks later.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2880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PRODUCTION STANDARD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Production (Scikit-Learn)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from sklearn.linear_model import LinearRegression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model = LinearRegression()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model.fit(X_train, y_train)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y_pred = model.predict(X_test)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Highly optimized LAPACK solver; industry standard.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Helvetica"/>
              </a:defRPr>
            </a:pPr>
            <a:r>
              <a:t>MACHINE LEARNING (UFCFAS-15-2) · WEEK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Helvetica"/>
              </a:defRPr>
            </a:pPr>
            <a:r>
              <a:t>Today's Lab Workflow &amp; Immediate Action Items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1. Environment Launch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Pull docker image or start JupyterLab.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Verify Python 3.12, sklearn, pandas.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Ensure datasets and notebooks are visible.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URL: http://localhost:8888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2. Complete Practical 1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Open linear-regression-sklearn-gradient-descent.ipynb.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Code Gradient Descent manually in NumPy.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Plot the cost reduction curve J(theta).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Verify weights match Scikit-Learn.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2918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defRPr sz="1000" b="1">
                <a:solidFill>
                  <a:srgbClr val="38BDF8"/>
                </a:solidFill>
                <a:latin typeface="Helvetica"/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800" b="1">
                <a:solidFill>
                  <a:srgbClr val="818CF8"/>
                </a:solidFill>
                <a:latin typeface="Helvetica"/>
              </a:defRPr>
            </a:pPr>
            <a:r>
              <a:t>3. Commit &amp; Reflect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Run all notebook cells (outputs visible).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Create your SETUP.md &amp; REFLECTION.md.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git add, commit, and git push.</a:t>
            </a:r>
          </a:p>
          <a:p>
            <a:pPr>
              <a:spcAft>
                <a:spcPts val="800"/>
              </a:spcAft>
              <a:defRPr sz="1300">
                <a:solidFill>
                  <a:srgbClr val="F8FAFC"/>
                </a:solidFill>
                <a:latin typeface="Helvetica"/>
              </a:defRPr>
            </a:pPr>
            <a:r>
              <a:t>•  Automated GitHub Action validates submission!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