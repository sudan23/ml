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70" r:id="rId3"/>
    <p:sldId id="291" r:id="rId4"/>
    <p:sldId id="292" r:id="rId5"/>
    <p:sldId id="295" r:id="rId6"/>
    <p:sldId id="296" r:id="rId7"/>
    <p:sldId id="260" r:id="rId8"/>
    <p:sldId id="311" r:id="rId9"/>
    <p:sldId id="320" r:id="rId10"/>
    <p:sldId id="297" r:id="rId11"/>
    <p:sldId id="308" r:id="rId12"/>
    <p:sldId id="310" r:id="rId13"/>
    <p:sldId id="290" r:id="rId14"/>
    <p:sldId id="317" r:id="rId15"/>
    <p:sldId id="319" r:id="rId16"/>
    <p:sldId id="298" r:id="rId17"/>
    <p:sldId id="299" r:id="rId18"/>
    <p:sldId id="315" r:id="rId19"/>
    <p:sldId id="301" r:id="rId20"/>
    <p:sldId id="318" r:id="rId21"/>
    <p:sldId id="316" r:id="rId22"/>
    <p:sldId id="302" r:id="rId23"/>
    <p:sldId id="259" r:id="rId24"/>
    <p:sldId id="282" r:id="rId25"/>
    <p:sldId id="284" r:id="rId26"/>
    <p:sldId id="314" r:id="rId27"/>
    <p:sldId id="294" r:id="rId28"/>
  </p:sldIdLst>
  <p:sldSz cx="12192000" cy="6858000"/>
  <p:notesSz cx="6858000" cy="9144000"/>
  <p:embeddedFontLst>
    <p:embeddedFont>
      <p:font typeface="Cambria Math" panose="02040503050406030204" pitchFamily="18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/>
    <p:restoredTop sz="86395"/>
  </p:normalViewPr>
  <p:slideViewPr>
    <p:cSldViewPr snapToGrid="0" snapToObjects="1">
      <p:cViewPr varScale="1">
        <p:scale>
          <a:sx n="110" d="100"/>
          <a:sy n="110" d="100"/>
        </p:scale>
        <p:origin x="9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6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ong" userId="fae4f9bd-26d5-4760-9ac2-6f75f350beba" providerId="ADAL" clId="{A344EECA-CA8A-0845-9E60-FA5EA2277C42}"/>
    <pc:docChg chg="modSld sldOrd">
      <pc:chgData name="Jun Hong" userId="fae4f9bd-26d5-4760-9ac2-6f75f350beba" providerId="ADAL" clId="{A344EECA-CA8A-0845-9E60-FA5EA2277C42}" dt="2023-02-13T12:39:53.905" v="0"/>
      <pc:docMkLst>
        <pc:docMk/>
      </pc:docMkLst>
      <pc:sldChg chg="ord">
        <pc:chgData name="Jun Hong" userId="fae4f9bd-26d5-4760-9ac2-6f75f350beba" providerId="ADAL" clId="{A344EECA-CA8A-0845-9E60-FA5EA2277C42}" dt="2023-02-13T12:39:53.905" v="0"/>
        <pc:sldMkLst>
          <pc:docMk/>
          <pc:sldMk cId="2662018923" sldId="319"/>
        </pc:sldMkLst>
      </pc:sldChg>
    </pc:docChg>
  </pc:docChgLst>
  <pc:docChgLst>
    <pc:chgData name="Jun Hong" userId="fae4f9bd-26d5-4760-9ac2-6f75f350beba" providerId="ADAL" clId="{6E810F9A-EBD3-1141-B56E-66B7C989C96E}"/>
    <pc:docChg chg="undo custSel modSld">
      <pc:chgData name="Jun Hong" userId="fae4f9bd-26d5-4760-9ac2-6f75f350beba" providerId="ADAL" clId="{6E810F9A-EBD3-1141-B56E-66B7C989C96E}" dt="2024-02-05T15:36:50.051" v="1084" actId="20577"/>
      <pc:docMkLst>
        <pc:docMk/>
      </pc:docMkLst>
      <pc:sldChg chg="modSp mod">
        <pc:chgData name="Jun Hong" userId="fae4f9bd-26d5-4760-9ac2-6f75f350beba" providerId="ADAL" clId="{6E810F9A-EBD3-1141-B56E-66B7C989C96E}" dt="2024-01-22T09:55:44.388" v="248" actId="114"/>
        <pc:sldMkLst>
          <pc:docMk/>
          <pc:sldMk cId="400265734" sldId="270"/>
        </pc:sldMkLst>
      </pc:sldChg>
      <pc:sldChg chg="modSp mod">
        <pc:chgData name="Jun Hong" userId="fae4f9bd-26d5-4760-9ac2-6f75f350beba" providerId="ADAL" clId="{6E810F9A-EBD3-1141-B56E-66B7C989C96E}" dt="2024-01-17T12:12:51.642" v="136" actId="20577"/>
        <pc:sldMkLst>
          <pc:docMk/>
          <pc:sldMk cId="65065846" sldId="290"/>
        </pc:sldMkLst>
      </pc:sldChg>
      <pc:sldChg chg="modNotesTx">
        <pc:chgData name="Jun Hong" userId="fae4f9bd-26d5-4760-9ac2-6f75f350beba" providerId="ADAL" clId="{6E810F9A-EBD3-1141-B56E-66B7C989C96E}" dt="2024-02-05T15:10:40.592" v="352" actId="20577"/>
        <pc:sldMkLst>
          <pc:docMk/>
          <pc:sldMk cId="3045767442" sldId="292"/>
        </pc:sldMkLst>
      </pc:sldChg>
      <pc:sldChg chg="modSp">
        <pc:chgData name="Jun Hong" userId="fae4f9bd-26d5-4760-9ac2-6f75f350beba" providerId="ADAL" clId="{6E810F9A-EBD3-1141-B56E-66B7C989C96E}" dt="2024-01-17T11:42:41.620" v="23" actId="20577"/>
        <pc:sldMkLst>
          <pc:docMk/>
          <pc:sldMk cId="3826455272" sldId="297"/>
        </pc:sldMkLst>
      </pc:sldChg>
      <pc:sldChg chg="modSp mod modNotesTx">
        <pc:chgData name="Jun Hong" userId="fae4f9bd-26d5-4760-9ac2-6f75f350beba" providerId="ADAL" clId="{6E810F9A-EBD3-1141-B56E-66B7C989C96E}" dt="2024-02-05T15:25:09.016" v="593" actId="20577"/>
        <pc:sldMkLst>
          <pc:docMk/>
          <pc:sldMk cId="1468613409" sldId="308"/>
        </pc:sldMkLst>
      </pc:sldChg>
      <pc:sldChg chg="modNotesTx">
        <pc:chgData name="Jun Hong" userId="fae4f9bd-26d5-4760-9ac2-6f75f350beba" providerId="ADAL" clId="{6E810F9A-EBD3-1141-B56E-66B7C989C96E}" dt="2024-02-05T15:26:32.434" v="703" actId="20577"/>
        <pc:sldMkLst>
          <pc:docMk/>
          <pc:sldMk cId="220954200" sldId="310"/>
        </pc:sldMkLst>
      </pc:sldChg>
      <pc:sldChg chg="addSp modSp mod modNotesTx">
        <pc:chgData name="Jun Hong" userId="fae4f9bd-26d5-4760-9ac2-6f75f350beba" providerId="ADAL" clId="{6E810F9A-EBD3-1141-B56E-66B7C989C96E}" dt="2024-02-05T15:16:23.235" v="506" actId="20577"/>
        <pc:sldMkLst>
          <pc:docMk/>
          <pc:sldMk cId="3623508792" sldId="311"/>
        </pc:sldMkLst>
      </pc:sldChg>
      <pc:sldChg chg="modSp mod modNotesTx">
        <pc:chgData name="Jun Hong" userId="fae4f9bd-26d5-4760-9ac2-6f75f350beba" providerId="ADAL" clId="{6E810F9A-EBD3-1141-B56E-66B7C989C96E}" dt="2024-02-05T15:36:50.051" v="1084" actId="20577"/>
        <pc:sldMkLst>
          <pc:docMk/>
          <pc:sldMk cId="53612326" sldId="317"/>
        </pc:sldMkLst>
      </pc:sldChg>
    </pc:docChg>
  </pc:docChgLst>
  <pc:docChgLst>
    <pc:chgData name="Jun Hong" userId="fae4f9bd-26d5-4760-9ac2-6f75f350beba" providerId="ADAL" clId="{E7DDC386-434A-C340-B9AC-FD958232B21E}"/>
    <pc:docChg chg="modSld">
      <pc:chgData name="Jun Hong" userId="fae4f9bd-26d5-4760-9ac2-6f75f350beba" providerId="ADAL" clId="{E7DDC386-434A-C340-B9AC-FD958232B21E}" dt="2023-12-14T16:20:43.752" v="0" actId="20577"/>
      <pc:docMkLst>
        <pc:docMk/>
      </pc:docMkLst>
      <pc:sldChg chg="modSp mod">
        <pc:chgData name="Jun Hong" userId="fae4f9bd-26d5-4760-9ac2-6f75f350beba" providerId="ADAL" clId="{E7DDC386-434A-C340-B9AC-FD958232B21E}" dt="2023-12-14T16:20:43.752" v="0" actId="20577"/>
        <pc:sldMkLst>
          <pc:docMk/>
          <pc:sldMk cId="2680018778" sldId="282"/>
        </pc:sldMkLst>
      </pc:sldChg>
    </pc:docChg>
  </pc:docChgLst>
  <pc:docChgLst>
    <pc:chgData name="Jun Hong" userId="fae4f9bd-26d5-4760-9ac2-6f75f350beba" providerId="ADAL" clId="{12A56213-D9C1-1946-8191-4FAD4A6B43D4}"/>
    <pc:docChg chg="delSld modSld">
      <pc:chgData name="Jun Hong" userId="fae4f9bd-26d5-4760-9ac2-6f75f350beba" providerId="ADAL" clId="{12A56213-D9C1-1946-8191-4FAD4A6B43D4}" dt="2024-12-19T12:08:58.693" v="91" actId="2696"/>
      <pc:docMkLst>
        <pc:docMk/>
      </pc:docMkLst>
      <pc:sldChg chg="del">
        <pc:chgData name="Jun Hong" userId="fae4f9bd-26d5-4760-9ac2-6f75f350beba" providerId="ADAL" clId="{12A56213-D9C1-1946-8191-4FAD4A6B43D4}" dt="2024-12-19T12:08:58.693" v="91" actId="2696"/>
        <pc:sldMkLst>
          <pc:docMk/>
          <pc:sldMk cId="2688417654" sldId="258"/>
        </pc:sldMkLst>
      </pc:sldChg>
      <pc:sldChg chg="modSp">
        <pc:chgData name="Jun Hong" userId="fae4f9bd-26d5-4760-9ac2-6f75f350beba" providerId="ADAL" clId="{12A56213-D9C1-1946-8191-4FAD4A6B43D4}" dt="2024-12-19T11:44:28.723" v="14" actId="20577"/>
        <pc:sldMkLst>
          <pc:docMk/>
          <pc:sldMk cId="65065846" sldId="290"/>
        </pc:sldMkLst>
        <pc:spChg chg="mod">
          <ac:chgData name="Jun Hong" userId="fae4f9bd-26d5-4760-9ac2-6f75f350beba" providerId="ADAL" clId="{12A56213-D9C1-1946-8191-4FAD4A6B43D4}" dt="2024-12-19T11:44:28.723" v="14" actId="20577"/>
          <ac:spMkLst>
            <pc:docMk/>
            <pc:sldMk cId="65065846" sldId="290"/>
            <ac:spMk id="3" creationId="{46EDBA94-4215-904D-8B7E-8320A6532036}"/>
          </ac:spMkLst>
        </pc:spChg>
      </pc:sldChg>
      <pc:sldChg chg="modSp mod">
        <pc:chgData name="Jun Hong" userId="fae4f9bd-26d5-4760-9ac2-6f75f350beba" providerId="ADAL" clId="{12A56213-D9C1-1946-8191-4FAD4A6B43D4}" dt="2024-12-19T11:32:25.406" v="0" actId="114"/>
        <pc:sldMkLst>
          <pc:docMk/>
          <pc:sldMk cId="1453313934" sldId="291"/>
        </pc:sldMkLst>
        <pc:spChg chg="mod">
          <ac:chgData name="Jun Hong" userId="fae4f9bd-26d5-4760-9ac2-6f75f350beba" providerId="ADAL" clId="{12A56213-D9C1-1946-8191-4FAD4A6B43D4}" dt="2024-12-19T11:32:25.406" v="0" actId="114"/>
          <ac:spMkLst>
            <pc:docMk/>
            <pc:sldMk cId="1453313934" sldId="291"/>
            <ac:spMk id="3" creationId="{A0AC6811-8358-3A46-A5CB-E05F2A9DD027}"/>
          </ac:spMkLst>
        </pc:spChg>
      </pc:sldChg>
      <pc:sldChg chg="modNotesTx">
        <pc:chgData name="Jun Hong" userId="fae4f9bd-26d5-4760-9ac2-6f75f350beba" providerId="ADAL" clId="{12A56213-D9C1-1946-8191-4FAD4A6B43D4}" dt="2024-12-19T11:33:21.181" v="5" actId="20577"/>
        <pc:sldMkLst>
          <pc:docMk/>
          <pc:sldMk cId="3045767442" sldId="292"/>
        </pc:sldMkLst>
      </pc:sldChg>
      <pc:sldChg chg="modSp">
        <pc:chgData name="Jun Hong" userId="fae4f9bd-26d5-4760-9ac2-6f75f350beba" providerId="ADAL" clId="{12A56213-D9C1-1946-8191-4FAD4A6B43D4}" dt="2024-12-19T11:50:54.519" v="71" actId="20577"/>
        <pc:sldMkLst>
          <pc:docMk/>
          <pc:sldMk cId="1647675775" sldId="298"/>
        </pc:sldMkLst>
        <pc:spChg chg="mod">
          <ac:chgData name="Jun Hong" userId="fae4f9bd-26d5-4760-9ac2-6f75f350beba" providerId="ADAL" clId="{12A56213-D9C1-1946-8191-4FAD4A6B43D4}" dt="2024-12-19T11:50:54.519" v="71" actId="20577"/>
          <ac:spMkLst>
            <pc:docMk/>
            <pc:sldMk cId="1647675775" sldId="298"/>
            <ac:spMk id="3" creationId="{46EDBA94-4215-904D-8B7E-8320A6532036}"/>
          </ac:spMkLst>
        </pc:spChg>
      </pc:sldChg>
      <pc:sldChg chg="modSp">
        <pc:chgData name="Jun Hong" userId="fae4f9bd-26d5-4760-9ac2-6f75f350beba" providerId="ADAL" clId="{12A56213-D9C1-1946-8191-4FAD4A6B43D4}" dt="2024-12-19T11:43:19.192" v="12" actId="20577"/>
        <pc:sldMkLst>
          <pc:docMk/>
          <pc:sldMk cId="1468613409" sldId="308"/>
        </pc:sldMkLst>
        <pc:spChg chg="mod">
          <ac:chgData name="Jun Hong" userId="fae4f9bd-26d5-4760-9ac2-6f75f350beba" providerId="ADAL" clId="{12A56213-D9C1-1946-8191-4FAD4A6B43D4}" dt="2024-12-19T11:43:19.192" v="12" actId="20577"/>
          <ac:spMkLst>
            <pc:docMk/>
            <pc:sldMk cId="1468613409" sldId="308"/>
            <ac:spMk id="3" creationId="{46EDBA94-4215-904D-8B7E-8320A6532036}"/>
          </ac:spMkLst>
        </pc:spChg>
      </pc:sldChg>
      <pc:sldChg chg="modSp">
        <pc:chgData name="Jun Hong" userId="fae4f9bd-26d5-4760-9ac2-6f75f350beba" providerId="ADAL" clId="{12A56213-D9C1-1946-8191-4FAD4A6B43D4}" dt="2024-12-19T11:42:11.394" v="11" actId="20577"/>
        <pc:sldMkLst>
          <pc:docMk/>
          <pc:sldMk cId="220954200" sldId="310"/>
        </pc:sldMkLst>
        <pc:spChg chg="mod">
          <ac:chgData name="Jun Hong" userId="fae4f9bd-26d5-4760-9ac2-6f75f350beba" providerId="ADAL" clId="{12A56213-D9C1-1946-8191-4FAD4A6B43D4}" dt="2024-12-19T11:42:11.394" v="11" actId="20577"/>
          <ac:spMkLst>
            <pc:docMk/>
            <pc:sldMk cId="220954200" sldId="310"/>
            <ac:spMk id="3" creationId="{46EDBA94-4215-904D-8B7E-8320A6532036}"/>
          </ac:spMkLst>
        </pc:spChg>
      </pc:sldChg>
      <pc:sldChg chg="modNotesTx">
        <pc:chgData name="Jun Hong" userId="fae4f9bd-26d5-4760-9ac2-6f75f350beba" providerId="ADAL" clId="{12A56213-D9C1-1946-8191-4FAD4A6B43D4}" dt="2024-12-19T11:39:04.404" v="10" actId="20577"/>
        <pc:sldMkLst>
          <pc:docMk/>
          <pc:sldMk cId="3623508792" sldId="311"/>
        </pc:sldMkLst>
      </pc:sldChg>
      <pc:sldChg chg="modSp">
        <pc:chgData name="Jun Hong" userId="fae4f9bd-26d5-4760-9ac2-6f75f350beba" providerId="ADAL" clId="{12A56213-D9C1-1946-8191-4FAD4A6B43D4}" dt="2024-12-19T11:52:15.425" v="90" actId="20577"/>
        <pc:sldMkLst>
          <pc:docMk/>
          <pc:sldMk cId="1054888114" sldId="315"/>
        </pc:sldMkLst>
        <pc:spChg chg="mod">
          <ac:chgData name="Jun Hong" userId="fae4f9bd-26d5-4760-9ac2-6f75f350beba" providerId="ADAL" clId="{12A56213-D9C1-1946-8191-4FAD4A6B43D4}" dt="2024-12-19T11:52:15.425" v="90" actId="20577"/>
          <ac:spMkLst>
            <pc:docMk/>
            <pc:sldMk cId="1054888114" sldId="315"/>
            <ac:spMk id="3" creationId="{47040C29-16FA-C446-B565-4DE224C628C7}"/>
          </ac:spMkLst>
        </pc:spChg>
      </pc:sldChg>
      <pc:sldChg chg="modNotesTx">
        <pc:chgData name="Jun Hong" userId="fae4f9bd-26d5-4760-9ac2-6f75f350beba" providerId="ADAL" clId="{12A56213-D9C1-1946-8191-4FAD4A6B43D4}" dt="2024-12-19T11:47:18.580" v="70"/>
        <pc:sldMkLst>
          <pc:docMk/>
          <pc:sldMk cId="53612326" sldId="317"/>
        </pc:sldMkLst>
      </pc:sldChg>
    </pc:docChg>
  </pc:docChgLst>
  <pc:docChgLst>
    <pc:chgData name="Jun Hong" userId="fae4f9bd-26d5-4760-9ac2-6f75f350beba" providerId="ADAL" clId="{51961E84-F7D6-5949-993A-385CD07F0E28}"/>
    <pc:docChg chg="undo custSel addSld modSld sldOrd">
      <pc:chgData name="Jun Hong" userId="fae4f9bd-26d5-4760-9ac2-6f75f350beba" providerId="ADAL" clId="{51961E84-F7D6-5949-993A-385CD07F0E28}" dt="2025-02-11T20:45:03.718" v="421" actId="20577"/>
      <pc:docMkLst>
        <pc:docMk/>
      </pc:docMkLst>
      <pc:sldChg chg="modNotesTx">
        <pc:chgData name="Jun Hong" userId="fae4f9bd-26d5-4760-9ac2-6f75f350beba" providerId="ADAL" clId="{51961E84-F7D6-5949-993A-385CD07F0E28}" dt="2025-02-06T15:58:12.068" v="32" actId="20577"/>
        <pc:sldMkLst>
          <pc:docMk/>
          <pc:sldMk cId="4222409972" sldId="299"/>
        </pc:sldMkLst>
      </pc:sldChg>
      <pc:sldChg chg="addSp modSp mod modNotesTx">
        <pc:chgData name="Jun Hong" userId="fae4f9bd-26d5-4760-9ac2-6f75f350beba" providerId="ADAL" clId="{51961E84-F7D6-5949-993A-385CD07F0E28}" dt="2025-02-11T11:33:42.253" v="252" actId="20577"/>
        <pc:sldMkLst>
          <pc:docMk/>
          <pc:sldMk cId="3623508792" sldId="311"/>
        </pc:sldMkLst>
        <pc:spChg chg="add mod">
          <ac:chgData name="Jun Hong" userId="fae4f9bd-26d5-4760-9ac2-6f75f350beba" providerId="ADAL" clId="{51961E84-F7D6-5949-993A-385CD07F0E28}" dt="2025-02-11T11:33:42.253" v="252" actId="20577"/>
          <ac:spMkLst>
            <pc:docMk/>
            <pc:sldMk cId="3623508792" sldId="311"/>
            <ac:spMk id="7" creationId="{176FB5C4-3EBA-A299-671C-082A48D01B7A}"/>
          </ac:spMkLst>
        </pc:spChg>
      </pc:sldChg>
      <pc:sldChg chg="addSp delSp modSp mod">
        <pc:chgData name="Jun Hong" userId="fae4f9bd-26d5-4760-9ac2-6f75f350beba" providerId="ADAL" clId="{51961E84-F7D6-5949-993A-385CD07F0E28}" dt="2025-02-11T20:45:03.718" v="421" actId="20577"/>
        <pc:sldMkLst>
          <pc:docMk/>
          <pc:sldMk cId="2175283556" sldId="318"/>
        </pc:sldMkLst>
        <pc:spChg chg="mod">
          <ac:chgData name="Jun Hong" userId="fae4f9bd-26d5-4760-9ac2-6f75f350beba" providerId="ADAL" clId="{51961E84-F7D6-5949-993A-385CD07F0E28}" dt="2025-02-11T20:33:08.698" v="284" actId="1076"/>
          <ac:spMkLst>
            <pc:docMk/>
            <pc:sldMk cId="2175283556" sldId="318"/>
            <ac:spMk id="3" creationId="{0679FC4F-09CC-1E47-93E2-AA656C6FB9CD}"/>
          </ac:spMkLst>
        </pc:spChg>
        <pc:spChg chg="add del mod">
          <ac:chgData name="Jun Hong" userId="fae4f9bd-26d5-4760-9ac2-6f75f350beba" providerId="ADAL" clId="{51961E84-F7D6-5949-993A-385CD07F0E28}" dt="2025-02-11T12:18:10.945" v="269" actId="478"/>
          <ac:spMkLst>
            <pc:docMk/>
            <pc:sldMk cId="2175283556" sldId="318"/>
            <ac:spMk id="6" creationId="{ACDCED7A-828E-A1A2-F086-BA7039128F1C}"/>
          </ac:spMkLst>
        </pc:spChg>
        <pc:spChg chg="add mod">
          <ac:chgData name="Jun Hong" userId="fae4f9bd-26d5-4760-9ac2-6f75f350beba" providerId="ADAL" clId="{51961E84-F7D6-5949-993A-385CD07F0E28}" dt="2025-02-11T20:45:03.718" v="421" actId="20577"/>
          <ac:spMkLst>
            <pc:docMk/>
            <pc:sldMk cId="2175283556" sldId="318"/>
            <ac:spMk id="10" creationId="{CA143DA7-09D8-52D0-910A-CCFCD7BF355E}"/>
          </ac:spMkLst>
        </pc:spChg>
        <pc:spChg chg="add mod">
          <ac:chgData name="Jun Hong" userId="fae4f9bd-26d5-4760-9ac2-6f75f350beba" providerId="ADAL" clId="{51961E84-F7D6-5949-993A-385CD07F0E28}" dt="2025-02-11T20:43:11.158" v="419" actId="207"/>
          <ac:spMkLst>
            <pc:docMk/>
            <pc:sldMk cId="2175283556" sldId="318"/>
            <ac:spMk id="11" creationId="{B7CD5960-345C-C322-3CA0-C640D9F04ABD}"/>
          </ac:spMkLst>
        </pc:spChg>
        <pc:picChg chg="del">
          <ac:chgData name="Jun Hong" userId="fae4f9bd-26d5-4760-9ac2-6f75f350beba" providerId="ADAL" clId="{51961E84-F7D6-5949-993A-385CD07F0E28}" dt="2025-02-11T12:16:47.782" v="257" actId="478"/>
          <ac:picMkLst>
            <pc:docMk/>
            <pc:sldMk cId="2175283556" sldId="318"/>
            <ac:picMk id="4" creationId="{2B6BA54D-FABF-8C42-B59A-C3FD08C2BE99}"/>
          </ac:picMkLst>
        </pc:picChg>
        <pc:picChg chg="del">
          <ac:chgData name="Jun Hong" userId="fae4f9bd-26d5-4760-9ac2-6f75f350beba" providerId="ADAL" clId="{51961E84-F7D6-5949-993A-385CD07F0E28}" dt="2025-02-11T12:17:35.673" v="263" actId="478"/>
          <ac:picMkLst>
            <pc:docMk/>
            <pc:sldMk cId="2175283556" sldId="318"/>
            <ac:picMk id="5" creationId="{AAF23950-E336-0A4A-89F5-E3F6930C8A10}"/>
          </ac:picMkLst>
        </pc:picChg>
        <pc:picChg chg="add del mod">
          <ac:chgData name="Jun Hong" userId="fae4f9bd-26d5-4760-9ac2-6f75f350beba" providerId="ADAL" clId="{51961E84-F7D6-5949-993A-385CD07F0E28}" dt="2025-02-11T20:07:29.314" v="275" actId="478"/>
          <ac:picMkLst>
            <pc:docMk/>
            <pc:sldMk cId="2175283556" sldId="318"/>
            <ac:picMk id="7" creationId="{37C3B674-46D1-6D4A-CA11-25A91ADE9632}"/>
          </ac:picMkLst>
        </pc:picChg>
        <pc:picChg chg="add del mod">
          <ac:chgData name="Jun Hong" userId="fae4f9bd-26d5-4760-9ac2-6f75f350beba" providerId="ADAL" clId="{51961E84-F7D6-5949-993A-385CD07F0E28}" dt="2025-02-11T20:07:34.024" v="276" actId="478"/>
          <ac:picMkLst>
            <pc:docMk/>
            <pc:sldMk cId="2175283556" sldId="318"/>
            <ac:picMk id="8" creationId="{840B55F7-FB73-A299-723B-8E9D320D3EB0}"/>
          </ac:picMkLst>
        </pc:picChg>
        <pc:picChg chg="add mod">
          <ac:chgData name="Jun Hong" userId="fae4f9bd-26d5-4760-9ac2-6f75f350beba" providerId="ADAL" clId="{51961E84-F7D6-5949-993A-385CD07F0E28}" dt="2025-02-11T20:08:42.686" v="282" actId="1076"/>
          <ac:picMkLst>
            <pc:docMk/>
            <pc:sldMk cId="2175283556" sldId="318"/>
            <ac:picMk id="9" creationId="{6D2D9EB9-89A1-57DC-E63B-83D1BF41CBE4}"/>
          </ac:picMkLst>
        </pc:picChg>
      </pc:sldChg>
      <pc:sldChg chg="ord">
        <pc:chgData name="Jun Hong" userId="fae4f9bd-26d5-4760-9ac2-6f75f350beba" providerId="ADAL" clId="{51961E84-F7D6-5949-993A-385CD07F0E28}" dt="2025-02-06T15:34:03.410" v="3" actId="20578"/>
        <pc:sldMkLst>
          <pc:docMk/>
          <pc:sldMk cId="2662018923" sldId="319"/>
        </pc:sldMkLst>
      </pc:sldChg>
      <pc:sldChg chg="addSp delSp modSp new mod">
        <pc:chgData name="Jun Hong" userId="fae4f9bd-26d5-4760-9ac2-6f75f350beba" providerId="ADAL" clId="{51961E84-F7D6-5949-993A-385CD07F0E28}" dt="2025-02-10T12:23:25.226" v="89" actId="20577"/>
        <pc:sldMkLst>
          <pc:docMk/>
          <pc:sldMk cId="1480711248" sldId="320"/>
        </pc:sldMkLst>
        <pc:spChg chg="mod">
          <ac:chgData name="Jun Hong" userId="fae4f9bd-26d5-4760-9ac2-6f75f350beba" providerId="ADAL" clId="{51961E84-F7D6-5949-993A-385CD07F0E28}" dt="2025-02-10T12:23:25.226" v="89" actId="20577"/>
          <ac:spMkLst>
            <pc:docMk/>
            <pc:sldMk cId="1480711248" sldId="320"/>
            <ac:spMk id="2" creationId="{05D66BC9-C199-F230-4442-062551D14370}"/>
          </ac:spMkLst>
        </pc:spChg>
        <pc:spChg chg="del">
          <ac:chgData name="Jun Hong" userId="fae4f9bd-26d5-4760-9ac2-6f75f350beba" providerId="ADAL" clId="{51961E84-F7D6-5949-993A-385CD07F0E28}" dt="2025-02-10T12:09:12.237" v="57" actId="478"/>
          <ac:spMkLst>
            <pc:docMk/>
            <pc:sldMk cId="1480711248" sldId="320"/>
            <ac:spMk id="3" creationId="{A859AAD4-7857-8B6A-97E5-C65C374A2E9D}"/>
          </ac:spMkLst>
        </pc:spChg>
        <pc:spChg chg="add del">
          <ac:chgData name="Jun Hong" userId="fae4f9bd-26d5-4760-9ac2-6f75f350beba" providerId="ADAL" clId="{51961E84-F7D6-5949-993A-385CD07F0E28}" dt="2025-02-10T12:16:51.175" v="68" actId="22"/>
          <ac:spMkLst>
            <pc:docMk/>
            <pc:sldMk cId="1480711248" sldId="320"/>
            <ac:spMk id="6" creationId="{1C80F41F-8E6F-232B-3176-563240B27D17}"/>
          </ac:spMkLst>
        </pc:spChg>
        <pc:picChg chg="add mod">
          <ac:chgData name="Jun Hong" userId="fae4f9bd-26d5-4760-9ac2-6f75f350beba" providerId="ADAL" clId="{51961E84-F7D6-5949-993A-385CD07F0E28}" dt="2025-02-10T12:19:08.994" v="75" actId="1076"/>
          <ac:picMkLst>
            <pc:docMk/>
            <pc:sldMk cId="1480711248" sldId="320"/>
            <ac:picMk id="4" creationId="{1603563D-E693-0831-0618-9954593857BB}"/>
          </ac:picMkLst>
        </pc:picChg>
        <pc:picChg chg="add mod">
          <ac:chgData name="Jun Hong" userId="fae4f9bd-26d5-4760-9ac2-6f75f350beba" providerId="ADAL" clId="{51961E84-F7D6-5949-993A-385CD07F0E28}" dt="2025-02-10T12:18:02.954" v="71" actId="1076"/>
          <ac:picMkLst>
            <pc:docMk/>
            <pc:sldMk cId="1480711248" sldId="320"/>
            <ac:picMk id="7" creationId="{2EE09EB6-6820-3832-853B-620C93F2B4A3}"/>
          </ac:picMkLst>
        </pc:picChg>
        <pc:picChg chg="add mod">
          <ac:chgData name="Jun Hong" userId="fae4f9bd-26d5-4760-9ac2-6f75f350beba" providerId="ADAL" clId="{51961E84-F7D6-5949-993A-385CD07F0E28}" dt="2025-02-10T12:18:53.450" v="73" actId="1076"/>
          <ac:picMkLst>
            <pc:docMk/>
            <pc:sldMk cId="1480711248" sldId="320"/>
            <ac:picMk id="8" creationId="{45E2CE97-3552-C097-52F0-7259E3F5782F}"/>
          </ac:picMkLst>
        </pc:picChg>
      </pc:sldChg>
    </pc:docChg>
  </pc:docChgLst>
  <pc:docChgLst>
    <pc:chgData name="Jun Hong" userId="fae4f9bd-26d5-4760-9ac2-6f75f350beba" providerId="ADAL" clId="{0B39333E-7803-B64F-9C01-F5D37B4C1BDE}"/>
    <pc:docChg chg="addSld modSld">
      <pc:chgData name="Jun Hong" userId="fae4f9bd-26d5-4760-9ac2-6f75f350beba" providerId="ADAL" clId="{0B39333E-7803-B64F-9C01-F5D37B4C1BDE}" dt="2023-02-07T10:41:46.612" v="22" actId="122"/>
      <pc:docMkLst>
        <pc:docMk/>
      </pc:docMkLst>
      <pc:sldChg chg="modSp new mod">
        <pc:chgData name="Jun Hong" userId="fae4f9bd-26d5-4760-9ac2-6f75f350beba" providerId="ADAL" clId="{0B39333E-7803-B64F-9C01-F5D37B4C1BDE}" dt="2023-02-07T10:41:46.612" v="22" actId="122"/>
        <pc:sldMkLst>
          <pc:docMk/>
          <pc:sldMk cId="2662018923" sldId="3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AE19FC-22E7-8D49-8947-1A97ED26CA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64AAE-BDD1-3C4C-AEB6-0A4216993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50891-8679-2F47-9275-241E3C755771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6A0ED-2CF7-F74E-B0BA-3F4CE88130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10861-457F-5A4A-9976-447EAB3AE1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ECD6F-F411-304A-9EA8-8F5DA29EF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20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DB808-B05F-5648-91FE-65C2910E14CF}" type="datetimeFigureOut">
              <a:rPr lang="en-GB" smtClean="0"/>
              <a:t>11/02/2025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11E0E-0AAE-A34F-9393-E307729F8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004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773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predicted value is a continuous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609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are illustrated in plot-</a:t>
            </a:r>
            <a:r>
              <a:rPr lang="en-US" dirty="0" err="1"/>
              <a:t>logistic.ipynb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7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584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346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model misclassifies some positive training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528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misclassifies much less positive training examples though misclassifies a few negative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729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79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a model is trained, we have a set of values for the parameters thetas. Using these values, we can find the decision boundary which is a linear equation.</a:t>
                </a:r>
              </a:p>
              <a:p>
                <a:r>
                  <a:rPr lang="en-US" dirty="0"/>
                  <a:t>A decision boundary consists of a set of values for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(i.e. threshold)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aseline="0" dirty="0"/>
                  <a:t> is trained (i.e. a set of values for theta 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When a model is trained, we have a set of values for the parameters thetas. Using these values, we can find the decision boundary which is a linear equation.</a:t>
                </a:r>
              </a:p>
              <a:p>
                <a:r>
                  <a:rPr lang="en-US" dirty="0"/>
                  <a:t>A decision boundary consists of a set of values for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𝑥</a:t>
                </a:r>
                <a:r>
                  <a:rPr lang="en-US" dirty="0"/>
                  <a:t> so that </a:t>
                </a:r>
                <a:r>
                  <a:rPr lang="en-GB" i="0">
                    <a:latin typeface="Cambria Math" panose="02040503050406030204" pitchFamily="18" charset="0"/>
                  </a:rPr>
                  <a:t>ℎ_</a:t>
                </a:r>
                <a:r>
                  <a:rPr lang="en-GB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i="0">
                    <a:latin typeface="Cambria Math" panose="02040503050406030204" pitchFamily="18" charset="0"/>
                  </a:rPr>
                  <a:t>(𝑥)</a:t>
                </a:r>
                <a:r>
                  <a:rPr lang="en-GB" b="0" i="0">
                    <a:latin typeface="Cambria Math" panose="02040503050406030204" pitchFamily="18" charset="0"/>
                  </a:rPr>
                  <a:t>=0.5</a:t>
                </a:r>
                <a:r>
                  <a:rPr lang="en-US" dirty="0"/>
                  <a:t> (i.e. threshold) after </a:t>
                </a:r>
                <a:r>
                  <a:rPr lang="en-GB" i="0">
                    <a:latin typeface="Cambria Math" panose="02040503050406030204" pitchFamily="18" charset="0"/>
                  </a:rPr>
                  <a:t>ℎ_</a:t>
                </a:r>
                <a:r>
                  <a:rPr lang="en-GB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i="0">
                    <a:latin typeface="Cambria Math" panose="02040503050406030204" pitchFamily="18" charset="0"/>
                  </a:rPr>
                  <a:t>(𝑥)</a:t>
                </a:r>
                <a:r>
                  <a:rPr lang="en-US" baseline="0" dirty="0"/>
                  <a:t> is trained (i.e. a set of values for theta 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24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the decision boundary depends on the parameters only. So once the model is trained, the decision boundary can be calculated. </a:t>
                </a:r>
              </a:p>
              <a:p>
                <a:r>
                  <a:rPr lang="en-US" dirty="0"/>
                  <a:t>We can use the two intercepts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to plot the line. For example, we have one intercept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another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Note that the decision boundary depends on the parameters only. So once the model is trained, the decision boundary can be calculated. </a:t>
                </a:r>
              </a:p>
              <a:p>
                <a:r>
                  <a:rPr lang="en-US" dirty="0"/>
                  <a:t>We can use the two intercepts on </a:t>
                </a:r>
                <a:r>
                  <a:rPr lang="en-GB" b="0" i="0" dirty="0">
                    <a:latin typeface="Cambria Math" panose="02040503050406030204" pitchFamily="18" charset="0"/>
                  </a:rPr>
                  <a:t>𝑥</a:t>
                </a:r>
                <a:r>
                  <a:rPr lang="en-US" b="0" i="0" dirty="0">
                    <a:latin typeface="Cambria Math" panose="02040503050406030204" pitchFamily="18" charset="0"/>
                  </a:rPr>
                  <a:t>_</a:t>
                </a:r>
                <a:r>
                  <a:rPr lang="en-GB" b="0" i="0" dirty="0">
                    <a:latin typeface="Cambria Math" panose="02040503050406030204" pitchFamily="18" charset="0"/>
                  </a:rPr>
                  <a:t>1</a:t>
                </a:r>
                <a:r>
                  <a:rPr lang="en-US" dirty="0"/>
                  <a:t> and </a:t>
                </a:r>
                <a:r>
                  <a:rPr lang="en-GB" b="0" i="0">
                    <a:latin typeface="Cambria Math" panose="02040503050406030204" pitchFamily="18" charset="0"/>
                  </a:rPr>
                  <a:t>𝑥</a:t>
                </a:r>
                <a:r>
                  <a:rPr lang="en-US" b="0" i="0">
                    <a:latin typeface="Cambria Math" panose="02040503050406030204" pitchFamily="18" charset="0"/>
                  </a:rPr>
                  <a:t>_</a:t>
                </a:r>
                <a:r>
                  <a:rPr lang="en-GB" b="0" i="0">
                    <a:latin typeface="Cambria Math" panose="02040503050406030204" pitchFamily="18" charset="0"/>
                  </a:rPr>
                  <a:t>2</a:t>
                </a:r>
                <a:r>
                  <a:rPr lang="en-US" dirty="0"/>
                  <a:t> to plot the line. For example, we have one intercept at </a:t>
                </a:r>
                <a:r>
                  <a:rPr lang="en-GB" b="0" i="0" dirty="0">
                    <a:latin typeface="Cambria Math" panose="02040503050406030204" pitchFamily="18" charset="0"/>
                  </a:rPr>
                  <a:t>𝑥</a:t>
                </a:r>
                <a:r>
                  <a:rPr lang="en-US" b="0" i="0" dirty="0">
                    <a:latin typeface="Cambria Math" panose="02040503050406030204" pitchFamily="18" charset="0"/>
                  </a:rPr>
                  <a:t>_</a:t>
                </a:r>
                <a:r>
                  <a:rPr lang="en-GB" b="0" i="0" dirty="0">
                    <a:latin typeface="Cambria Math" panose="02040503050406030204" pitchFamily="18" charset="0"/>
                  </a:rPr>
                  <a:t>1=0</a:t>
                </a:r>
                <a:r>
                  <a:rPr lang="en-US" dirty="0"/>
                  <a:t>, </a:t>
                </a:r>
                <a:r>
                  <a:rPr lang="en-GB" b="0" i="0">
                    <a:latin typeface="Cambria Math" panose="02040503050406030204" pitchFamily="18" charset="0"/>
                  </a:rPr>
                  <a:t>𝑥</a:t>
                </a:r>
                <a:r>
                  <a:rPr lang="en-US" b="0" i="0">
                    <a:latin typeface="Cambria Math" panose="02040503050406030204" pitchFamily="18" charset="0"/>
                  </a:rPr>
                  <a:t>_</a:t>
                </a:r>
                <a:r>
                  <a:rPr lang="en-GB" b="0" i="0">
                    <a:latin typeface="Cambria Math" panose="02040503050406030204" pitchFamily="18" charset="0"/>
                  </a:rPr>
                  <a:t>2=3</a:t>
                </a:r>
                <a:r>
                  <a:rPr lang="en-US" dirty="0"/>
                  <a:t> and another intercept </a:t>
                </a:r>
                <a:r>
                  <a:rPr lang="en-GB" b="0" i="0" dirty="0">
                    <a:latin typeface="Cambria Math" panose="02040503050406030204" pitchFamily="18" charset="0"/>
                  </a:rPr>
                  <a:t>𝑥</a:t>
                </a:r>
                <a:r>
                  <a:rPr lang="en-US" b="0" i="0" dirty="0">
                    <a:latin typeface="Cambria Math" panose="02040503050406030204" pitchFamily="18" charset="0"/>
                  </a:rPr>
                  <a:t>_</a:t>
                </a:r>
                <a:r>
                  <a:rPr lang="en-GB" b="0" i="0" dirty="0">
                    <a:latin typeface="Cambria Math" panose="02040503050406030204" pitchFamily="18" charset="0"/>
                  </a:rPr>
                  <a:t>1=3</a:t>
                </a:r>
                <a:r>
                  <a:rPr lang="en-US" dirty="0"/>
                  <a:t>, </a:t>
                </a:r>
                <a:r>
                  <a:rPr lang="en-GB" b="0" i="0">
                    <a:latin typeface="Cambria Math" panose="02040503050406030204" pitchFamily="18" charset="0"/>
                  </a:rPr>
                  <a:t>𝑥</a:t>
                </a:r>
                <a:r>
                  <a:rPr lang="en-US" b="0" i="0">
                    <a:latin typeface="Cambria Math" panose="02040503050406030204" pitchFamily="18" charset="0"/>
                  </a:rPr>
                  <a:t>_</a:t>
                </a:r>
                <a:r>
                  <a:rPr lang="en-GB" b="0" i="0">
                    <a:latin typeface="Cambria Math" panose="02040503050406030204" pitchFamily="18" charset="0"/>
                  </a:rPr>
                  <a:t>2=0</a:t>
                </a:r>
                <a:r>
                  <a:rPr lang="en-US" dirty="0"/>
                  <a:t>.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172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</a:t>
            </a:r>
            <a:r>
              <a:rPr lang="en-US" dirty="0" err="1"/>
              <a:t>efficients</a:t>
            </a:r>
            <a:r>
              <a:rPr lang="en-US" dirty="0"/>
              <a:t> and intersects.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249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546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sz="1200" dirty="0"/>
                  <a:t>We an replace </a:t>
                </a:r>
                <a:r>
                  <a:rPr lang="en-GB" sz="1200" b="0" i="0">
                    <a:latin typeface="Cambria Math" panose="02040503050406030204" pitchFamily="18" charset="0"/>
                  </a:rPr>
                  <a:t>𝑧</a:t>
                </a:r>
                <a:r>
                  <a:rPr lang="en-GB" sz="1200" dirty="0"/>
                  <a:t> in the above two plots with </a:t>
                </a:r>
                <a:r>
                  <a:rPr lang="en-GB" sz="1200" b="0" i="0">
                    <a:latin typeface="Cambria Math" panose="02040503050406030204" pitchFamily="18" charset="0"/>
                  </a:rPr>
                  <a:t>ℎ_</a:t>
                </a:r>
                <a:r>
                  <a:rPr lang="en-GB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b="0" i="0">
                    <a:latin typeface="Cambria Math" panose="02040503050406030204" pitchFamily="18" charset="0"/>
                  </a:rPr>
                  <a:t>(𝑥^((𝑖)))</a:t>
                </a:r>
                <a:r>
                  <a:rPr lang="en-GB" sz="1200" dirty="0"/>
                  <a:t>. The plot on the right shows that </a:t>
                </a:r>
                <a:r>
                  <a:rPr lang="en-GB" sz="1200" i="0">
                    <a:latin typeface="Cambria Math" panose="02040503050406030204" pitchFamily="18" charset="0"/>
                  </a:rPr>
                  <a:t>−log⁡〖</a:t>
                </a:r>
                <a:r>
                  <a:rPr lang="en-GB" sz="1200" b="0" i="0">
                    <a:latin typeface="Cambria Math" panose="02040503050406030204" pitchFamily="18" charset="0"/>
                  </a:rPr>
                  <a:t>(ℎ_</a:t>
                </a:r>
                <a:r>
                  <a:rPr lang="en-GB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b="0" i="0">
                    <a:latin typeface="Cambria Math" panose="02040503050406030204" pitchFamily="18" charset="0"/>
                  </a:rPr>
                  <a:t>(𝑥^((𝑖))))〗</a:t>
                </a:r>
                <a:r>
                  <a:rPr lang="en-GB" sz="1200" dirty="0"/>
                  <a:t> grows very large when </a:t>
                </a:r>
                <a:r>
                  <a:rPr lang="en-GB" sz="1200" i="0">
                    <a:latin typeface="Cambria Math" panose="02040503050406030204" pitchFamily="18" charset="0"/>
                  </a:rPr>
                  <a:t>ℎ_</a:t>
                </a:r>
                <a:r>
                  <a:rPr lang="en-GB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i="0">
                    <a:latin typeface="Cambria Math" panose="02040503050406030204" pitchFamily="18" charset="0"/>
                  </a:rPr>
                  <a:t>(𝑥^((𝑖) )</a:t>
                </a:r>
                <a:r>
                  <a:rPr lang="en-GB" sz="1200" b="0" i="0">
                    <a:latin typeface="Cambria Math" panose="02040503050406030204" pitchFamily="18" charset="0"/>
                  </a:rPr>
                  <a:t>)</a:t>
                </a:r>
                <a:r>
                  <a:rPr lang="en-GB" sz="1200" dirty="0"/>
                  <a:t> approaches </a:t>
                </a:r>
                <a:r>
                  <a:rPr lang="en-GB" sz="1200" b="0" i="0">
                    <a:latin typeface="Cambria Math" panose="02040503050406030204" pitchFamily="18" charset="0"/>
                  </a:rPr>
                  <a:t>0</a:t>
                </a:r>
                <a:r>
                  <a:rPr lang="en-GB" sz="1200" dirty="0"/>
                  <a:t>, so the cost will be large if the model estimates a probability close to 0 for a positive example, and </a:t>
                </a:r>
                <a:r>
                  <a:rPr lang="en-GB" sz="1200" b="0" i="0">
                    <a:latin typeface="Cambria Math" panose="02040503050406030204" pitchFamily="18" charset="0"/>
                  </a:rPr>
                  <a:t>−log⁡(〖1−ℎ〗_</a:t>
                </a:r>
                <a:r>
                  <a:rPr lang="en-GB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b="0" i="0">
                    <a:latin typeface="Cambria Math" panose="02040503050406030204" pitchFamily="18" charset="0"/>
                  </a:rPr>
                  <a:t>(𝑥^((𝑖))))</a:t>
                </a:r>
                <a:r>
                  <a:rPr lang="en-GB" sz="1200" dirty="0"/>
                  <a:t> will also be very large if the model estimates a probability close to 1 for a negative one. On the other hand, </a:t>
                </a:r>
                <a:r>
                  <a:rPr lang="en-GB" sz="1200" i="0">
                    <a:latin typeface="Cambria Math" panose="02040503050406030204" pitchFamily="18" charset="0"/>
                  </a:rPr>
                  <a:t>−log⁡〖(ℎ_</a:t>
                </a:r>
                <a:r>
                  <a:rPr lang="en-GB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i="0">
                    <a:latin typeface="Cambria Math" panose="02040503050406030204" pitchFamily="18" charset="0"/>
                  </a:rPr>
                  <a:t>(𝑥^((𝑖))))〗</a:t>
                </a:r>
                <a:r>
                  <a:rPr lang="en-GB" sz="1200" dirty="0"/>
                  <a:t> will be close to </a:t>
                </a:r>
                <a:r>
                  <a:rPr lang="en-GB" sz="1200" b="0" i="0">
                    <a:latin typeface="Cambria Math" panose="02040503050406030204" pitchFamily="18" charset="0"/>
                  </a:rPr>
                  <a:t>0</a:t>
                </a:r>
                <a:r>
                  <a:rPr lang="en-GB" sz="1200" dirty="0"/>
                  <a:t> when </a:t>
                </a:r>
                <a:r>
                  <a:rPr lang="en-GB" sz="1200" i="0">
                    <a:latin typeface="Cambria Math" panose="02040503050406030204" pitchFamily="18" charset="0"/>
                  </a:rPr>
                  <a:t>ℎ_</a:t>
                </a:r>
                <a:r>
                  <a:rPr lang="en-GB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i="0">
                    <a:latin typeface="Cambria Math" panose="02040503050406030204" pitchFamily="18" charset="0"/>
                  </a:rPr>
                  <a:t>(𝑥^((𝑖) ))</a:t>
                </a:r>
                <a:r>
                  <a:rPr lang="en-GB" sz="1200" dirty="0"/>
                  <a:t> is close to </a:t>
                </a:r>
                <a:r>
                  <a:rPr lang="en-GB" sz="1200" b="0" i="0">
                    <a:latin typeface="Cambria Math" panose="02040503050406030204" pitchFamily="18" charset="0"/>
                  </a:rPr>
                  <a:t>1</a:t>
                </a:r>
                <a:r>
                  <a:rPr lang="en-GB" sz="1200" dirty="0"/>
                  <a:t> for a positive example, and </a:t>
                </a:r>
                <a:r>
                  <a:rPr lang="en-GB" sz="1200" i="0">
                    <a:latin typeface="Cambria Math" panose="02040503050406030204" pitchFamily="18" charset="0"/>
                  </a:rPr>
                  <a:t>−log⁡(〖1−ℎ〗_</a:t>
                </a:r>
                <a:r>
                  <a:rPr lang="en-GB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i="0">
                    <a:latin typeface="Cambria Math" panose="02040503050406030204" pitchFamily="18" charset="0"/>
                  </a:rPr>
                  <a:t>(𝑥^((𝑖))))</a:t>
                </a:r>
                <a:r>
                  <a:rPr lang="en-GB" sz="1200" dirty="0"/>
                  <a:t> will be close to </a:t>
                </a:r>
                <a:r>
                  <a:rPr lang="en-GB" sz="1200" b="0" i="0">
                    <a:latin typeface="Cambria Math" panose="02040503050406030204" pitchFamily="18" charset="0"/>
                  </a:rPr>
                  <a:t>0</a:t>
                </a:r>
                <a:r>
                  <a:rPr lang="en-GB" sz="1200" dirty="0"/>
                  <a:t> when </a:t>
                </a:r>
                <a:r>
                  <a:rPr lang="en-GB" sz="1200" i="0">
                    <a:latin typeface="Cambria Math" panose="02040503050406030204" pitchFamily="18" charset="0"/>
                  </a:rPr>
                  <a:t>ℎ_</a:t>
                </a:r>
                <a:r>
                  <a:rPr lang="en-GB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 </a:t>
                </a:r>
                <a:r>
                  <a:rPr lang="en-GB" sz="1200" i="0">
                    <a:latin typeface="Cambria Math" panose="02040503050406030204" pitchFamily="18" charset="0"/>
                  </a:rPr>
                  <a:t>(𝑥^((𝑖) ))</a:t>
                </a:r>
                <a:r>
                  <a:rPr lang="en-GB" sz="1200" dirty="0"/>
                  <a:t> is close to </a:t>
                </a:r>
                <a:r>
                  <a:rPr lang="en-GB" sz="1200" b="0" i="0">
                    <a:latin typeface="Cambria Math" panose="02040503050406030204" pitchFamily="18" charset="0"/>
                  </a:rPr>
                  <a:t>0</a:t>
                </a:r>
                <a:r>
                  <a:rPr lang="en-GB" sz="1200" dirty="0"/>
                  <a:t> for a negative one. This is precisely what we want.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315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Noe that </a:t>
                </a:r>
                <a:r>
                  <a:rPr lang="en-GB" b="0" i="0">
                    <a:latin typeface="Cambria Math" panose="02040503050406030204" pitchFamily="18" charset="0"/>
                  </a:rPr>
                  <a:t>log⁡(1)=0</a:t>
                </a:r>
                <a:r>
                  <a:rPr lang="en-US" dirty="0"/>
                  <a:t> and </a:t>
                </a:r>
                <a:r>
                  <a:rPr lang="en-GB" b="0" i="0">
                    <a:latin typeface="Cambria Math" panose="02040503050406030204" pitchFamily="18" charset="0"/>
                  </a:rPr>
                  <a:t>log⁡(0)=</a:t>
                </a:r>
                <a:r>
                  <a:rPr lang="en-GB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dirty="0"/>
                  <a:t>.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6806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550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1E0E-0AAE-A34F-9393-E307729F883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43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3F8E-2AA0-4542-A31D-23863C533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8B310-BF99-F542-ADAC-FCDDD79B9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4F218-51A8-694C-B210-E4235483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2D8F3-EEA5-BD4A-A074-5D29EDA4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F17CF-2E0E-B544-8FE4-51530475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F5AB-7853-1349-A7B9-3E5D36A9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FF543-B0A4-4E45-A4F1-B4632729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1CF12-E97B-9F4A-A540-9043A13F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8394-89F5-D54C-897E-0CAEF675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07222-78C7-0C4C-9BBC-BE280E73F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6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9F77-5244-B34A-B178-FBDC26EB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CE672-F335-B54C-B6F7-6EE192EB2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1979F-6A42-F94A-90F5-296A5E74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87A03-C308-E543-A0D9-AE314199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0A9E6-8025-9F4E-A0F2-9FCA00E8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8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E4FE-A40F-4D42-99CA-52CDCFB8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27F94-2744-0045-8F46-19A1B1F32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5328E-D4F4-0349-80B1-D15256C92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1B384-FA67-D644-9D5A-0F539B66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CFF2C-E51D-FD4B-82EA-777F0EE83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A3AB3-E510-C643-8867-74AD3544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7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3F09C-5EE0-C14F-B020-D3A1053D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3C2F7-D79C-D14E-806E-8F9C5F725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EA15E-C8E6-6446-8215-43B75F1EA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2D1C0-D010-7E48-AD56-3AC51C997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98B2F-2D76-1D4D-9D84-EB6664460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6FF8C-8CFC-0947-9288-33A4AD97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6BECD-CC72-1248-A9C3-DCA87C95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CB4E3-7286-E34E-901A-FA3D25F1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6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3E82-27FD-A947-A9F6-A99B154D9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FC503-CE53-7643-9B18-3CB09CCA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8D5DD-8DFA-2949-9357-164E343D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C6687-42D3-424E-B57E-4629FEE5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6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8F8E1-E665-054A-A469-17B49FE6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17E4-3F85-544F-B3C2-7EE0632C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B5F8C-5259-8641-A54A-6345E01F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8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F7BD-A880-3647-B3DC-442AE991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B851-6800-C94B-9780-21351C900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60EAB-D1F0-E24F-AF12-09FA28F9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8F6F9-249B-B847-9FD9-936F878B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B582-5DC5-C441-9EE1-40A00940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5593-7110-0749-8487-10C26ADC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0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DC69-402B-894C-BD78-54B82CA7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2DFC09-6596-2D48-8096-39A5E4FCE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D97FF-FA82-4845-973D-E1AEB64E2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14426-ABC4-554F-88F7-BEB83CD9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3597B-1D06-8043-8FC1-1DD09E4B9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B2256-CF43-0949-8052-D6E320C07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F617-AAA6-7844-9EE6-EE6440C2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46ADF-E9ED-F346-8083-8ECB0BA0A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5F94-94DD-B74C-AAFE-1B6BAFEC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8BD92-6767-2B49-BAAF-22E7768B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7398C-047D-D040-8258-0C5AF5C9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6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22DCD-4A11-C748-9396-D955B3DD91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DBCDD-C2D7-8842-B86C-984E3F520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81A36-0D7D-9143-AAF1-6A5FCA5E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EEEC8-3397-2D46-B356-92F37972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15C52-E742-374F-81DC-10661060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F0A83-DD5C-CF44-BCA2-D79FC143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95A74-149D-E149-B35E-6BA607542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A7B0E-9907-FB4F-98A2-33D842E63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F3338-C03F-2241-B35C-0C3D6EB9446D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06C45-7CBC-0549-A875-C1895B634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6CC0E-433D-854D-8B58-073370D91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EEF1E-C874-184A-9F87-91D69B640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39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tiff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tiff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iff"/><Relationship Id="rId5" Type="http://schemas.openxmlformats.org/officeDocument/2006/relationships/image" Target="../media/image1.tiff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tiff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20.tif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tiff"/><Relationship Id="rId4" Type="http://schemas.openxmlformats.org/officeDocument/2006/relationships/image" Target="../media/image1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logistic-regression-using-python-sklearn-numpy-mnist-handwriting-recognition-matplotlib-a6b31e2b166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FAC5-3DAA-0E46-8C79-318091994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Regression/Classification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8D173-9BCF-0F40-8B89-28D58782E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 Hong</a:t>
            </a:r>
          </a:p>
        </p:txBody>
      </p:sp>
    </p:spTree>
    <p:extLst>
      <p:ext uri="{BB962C8B-B14F-4D97-AF65-F5344CB8AC3E}">
        <p14:creationId xmlns:p14="http://schemas.microsoft.com/office/powerpoint/2010/main" val="1678307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3877-2E90-1041-93B6-BD8B2781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this week’s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A290A-99CB-394E-BE9A-31C2CA525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Basics of logistic regression/classification</a:t>
            </a:r>
          </a:p>
          <a:p>
            <a:r>
              <a:rPr lang="en-GB" dirty="0"/>
              <a:t>What is logistic regression</a:t>
            </a:r>
          </a:p>
          <a:p>
            <a:r>
              <a:rPr lang="en-GB" dirty="0"/>
              <a:t>Logistic regression needs </a:t>
            </a:r>
            <a:r>
              <a:rPr lang="en-GB" i="1" dirty="0"/>
              <a:t>a different model </a:t>
            </a:r>
            <a:r>
              <a:rPr lang="en-GB" dirty="0"/>
              <a:t>from linear regression, including </a:t>
            </a:r>
            <a:r>
              <a:rPr lang="en-GB" i="1" dirty="0"/>
              <a:t>a new cost function</a:t>
            </a:r>
          </a:p>
          <a:p>
            <a:r>
              <a:rPr lang="en-GB" dirty="0"/>
              <a:t>What’s decision boundary</a:t>
            </a:r>
          </a:p>
          <a:p>
            <a:r>
              <a:rPr lang="en-GB" dirty="0"/>
              <a:t>How to train a logistic regression model</a:t>
            </a:r>
          </a:p>
          <a:p>
            <a:r>
              <a:rPr lang="en-GB" dirty="0"/>
              <a:t>How to use gradient descent to train a logistic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40026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1990-E18D-BA49-8A8E-9B9FC349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versus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C6811-8358-3A46-A5CB-E05F2A9DD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Regression problems: the values of the variable we want to predict, given the values of some other variables, are </a:t>
                </a:r>
                <a:r>
                  <a:rPr lang="en-GB" i="1" dirty="0"/>
                  <a:t>continuous values</a:t>
                </a:r>
                <a:r>
                  <a:rPr lang="en-GB" dirty="0"/>
                  <a:t>, e.g. given the size of a house, predict the price of the house</a:t>
                </a:r>
              </a:p>
              <a:p>
                <a:r>
                  <a:rPr lang="en-GB" dirty="0"/>
                  <a:t>Classification problems: the values of the variable we want to predict, given the values of some other variables, are discrete/categorical values, e.g.</a:t>
                </a:r>
              </a:p>
              <a:p>
                <a:pPr marL="457200" lvl="1" indent="0">
                  <a:buNone/>
                </a:pPr>
                <a:r>
                  <a:rPr lang="en-GB" dirty="0"/>
                  <a:t>Email: spam/not spam</a:t>
                </a:r>
              </a:p>
              <a:p>
                <a:pPr marL="457200" lvl="1" indent="0">
                  <a:buNone/>
                </a:pPr>
                <a:r>
                  <a:rPr lang="en-GB" dirty="0"/>
                  <a:t>Online Transactions: Fraudulent (Yes/No)</a:t>
                </a:r>
              </a:p>
              <a:p>
                <a:pPr marL="457200" lvl="1" indent="0">
                  <a:buNone/>
                </a:pPr>
                <a:r>
                  <a:rPr lang="en-GB" dirty="0"/>
                  <a:t>Tumour: Malignant/Benign</a:t>
                </a:r>
              </a:p>
              <a:p>
                <a:pPr marL="457200" lvl="1" indent="0">
                  <a:buNone/>
                </a:pPr>
                <a:r>
                  <a:rPr lang="en-GB" b="0" dirty="0"/>
                  <a:t>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1, 0</m:t>
                        </m:r>
                      </m:e>
                    </m:d>
                  </m:oMath>
                </a14:m>
                <a:r>
                  <a:rPr lang="en-GB" dirty="0"/>
                  <a:t> 	0: Negative Class (e.g. benign tumour)</a:t>
                </a:r>
              </a:p>
              <a:p>
                <a:pPr marL="457200" lvl="1" indent="0">
                  <a:buNone/>
                </a:pPr>
                <a:r>
                  <a:rPr lang="en-GB" dirty="0"/>
                  <a:t>		      	1: Positive Class (e.g. malignant tumour)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AC6811-8358-3A46-A5CB-E05F2A9DD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31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56AF-694B-574C-BCC0-AC612BD6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Is It Possible to Use Linear Regression for Classification?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86998-BDA8-644C-AD15-E04684F7A241}"/>
              </a:ext>
            </a:extLst>
          </p:cNvPr>
          <p:cNvCxnSpPr>
            <a:cxnSpLocks/>
          </p:cNvCxnSpPr>
          <p:nvPr/>
        </p:nvCxnSpPr>
        <p:spPr>
          <a:xfrm>
            <a:off x="2308860" y="3657600"/>
            <a:ext cx="398907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3FF2F5-4221-9E4B-BABD-9A8267066942}"/>
              </a:ext>
            </a:extLst>
          </p:cNvPr>
          <p:cNvCxnSpPr>
            <a:cxnSpLocks/>
          </p:cNvCxnSpPr>
          <p:nvPr/>
        </p:nvCxnSpPr>
        <p:spPr>
          <a:xfrm flipV="1">
            <a:off x="2457450" y="1794510"/>
            <a:ext cx="0" cy="209169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B9E35-8CF3-E043-8A1A-134937490709}"/>
                  </a:ext>
                </a:extLst>
              </p:cNvPr>
              <p:cNvSpPr txBox="1"/>
              <p:nvPr/>
            </p:nvSpPr>
            <p:spPr>
              <a:xfrm>
                <a:off x="1440180" y="3509010"/>
                <a:ext cx="8418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/>
                  <a:t>(No)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B9E35-8CF3-E043-8A1A-134937490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3509010"/>
                <a:ext cx="841897" cy="400110"/>
              </a:xfrm>
              <a:prstGeom prst="rect">
                <a:avLst/>
              </a:prstGeom>
              <a:blipFill>
                <a:blip r:embed="rId3"/>
                <a:stretch>
                  <a:fillRect l="-5882" t="-9375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7DA411-467E-BB46-A7B5-332F339421E3}"/>
                  </a:ext>
                </a:extLst>
              </p:cNvPr>
              <p:cNvSpPr txBox="1"/>
              <p:nvPr/>
            </p:nvSpPr>
            <p:spPr>
              <a:xfrm>
                <a:off x="1440180" y="1958340"/>
                <a:ext cx="8739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/>
                  <a:t>(Yes)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7DA411-467E-BB46-A7B5-332F3394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1958340"/>
                <a:ext cx="873957" cy="400110"/>
              </a:xfrm>
              <a:prstGeom prst="rect">
                <a:avLst/>
              </a:prstGeom>
              <a:blipFill>
                <a:blip r:embed="rId4"/>
                <a:stretch>
                  <a:fillRect l="-5714" t="-6061" b="-212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6F91E5F-0EA9-7A44-BAC4-A555B7397042}"/>
              </a:ext>
            </a:extLst>
          </p:cNvPr>
          <p:cNvSpPr txBox="1"/>
          <p:nvPr/>
        </p:nvSpPr>
        <p:spPr>
          <a:xfrm>
            <a:off x="855718" y="2596038"/>
            <a:ext cx="1362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Malignant?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4E188-0267-C442-B285-70BB0CFD832E}"/>
              </a:ext>
            </a:extLst>
          </p:cNvPr>
          <p:cNvSpPr txBox="1"/>
          <p:nvPr/>
        </p:nvSpPr>
        <p:spPr>
          <a:xfrm>
            <a:off x="3206557" y="3780294"/>
            <a:ext cx="1451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Tumour Size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8C0E1-AE2C-4648-8DA7-67EE2FFEDC72}"/>
              </a:ext>
            </a:extLst>
          </p:cNvPr>
          <p:cNvSpPr txBox="1"/>
          <p:nvPr/>
        </p:nvSpPr>
        <p:spPr>
          <a:xfrm>
            <a:off x="2716110" y="3509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 ✕ ✕ 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2091-12D0-B04B-98F6-DA5BB9C3F530}"/>
              </a:ext>
            </a:extLst>
          </p:cNvPr>
          <p:cNvSpPr txBox="1"/>
          <p:nvPr/>
        </p:nvSpPr>
        <p:spPr>
          <a:xfrm>
            <a:off x="4890221" y="19583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  ✕ ✕  ✕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51FB59-1675-5447-8751-51A60748B9AE}"/>
              </a:ext>
            </a:extLst>
          </p:cNvPr>
          <p:cNvCxnSpPr/>
          <p:nvPr/>
        </p:nvCxnSpPr>
        <p:spPr>
          <a:xfrm flipV="1">
            <a:off x="2573624" y="1958340"/>
            <a:ext cx="3394710" cy="21125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28E25-FC89-AC46-A37D-4A8505DB25A5}"/>
                  </a:ext>
                </a:extLst>
              </p:cNvPr>
              <p:cNvSpPr txBox="1"/>
              <p:nvPr/>
            </p:nvSpPr>
            <p:spPr>
              <a:xfrm>
                <a:off x="5958041" y="1737599"/>
                <a:ext cx="16723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28E25-FC89-AC46-A37D-4A8505DB2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41" y="1737599"/>
                <a:ext cx="167231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73967B-951B-EE41-8AC5-AB00D8E41587}"/>
                  </a:ext>
                </a:extLst>
              </p:cNvPr>
              <p:cNvSpPr txBox="1"/>
              <p:nvPr/>
            </p:nvSpPr>
            <p:spPr>
              <a:xfrm>
                <a:off x="855718" y="4325223"/>
                <a:ext cx="975260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As we want the outcome of classification to be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/>
                  <a:t> or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/>
                  <a:t>, we can set </a:t>
                </a:r>
              </a:p>
              <a:p>
                <a:r>
                  <a:rPr lang="en-GB" sz="2400" dirty="0"/>
                  <a:t>a </a:t>
                </a:r>
                <a:r>
                  <a:rPr lang="en-GB" sz="2400" i="1" dirty="0"/>
                  <a:t>threshold</a:t>
                </a:r>
                <a:r>
                  <a:rPr lang="en-GB" sz="2400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2400" dirty="0"/>
                  <a:t> at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sz="2400" dirty="0"/>
                  <a:t>, so that we can predict:</a:t>
                </a:r>
              </a:p>
              <a:p>
                <a:r>
                  <a:rPr lang="en-GB" sz="2400" dirty="0"/>
                  <a:t>	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	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73967B-951B-EE41-8AC5-AB00D8E4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18" y="4325223"/>
                <a:ext cx="9752606" cy="1569660"/>
              </a:xfrm>
              <a:prstGeom prst="rect">
                <a:avLst/>
              </a:prstGeom>
              <a:blipFill>
                <a:blip r:embed="rId6"/>
                <a:stretch>
                  <a:fillRect l="-780" t="-2419" b="-72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1E95D3-ACE4-6D49-8C49-B6E7C3238CA8}"/>
                  </a:ext>
                </a:extLst>
              </p:cNvPr>
              <p:cNvSpPr txBox="1"/>
              <p:nvPr/>
            </p:nvSpPr>
            <p:spPr>
              <a:xfrm>
                <a:off x="2436400" y="2655689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1E95D3-ACE4-6D49-8C49-B6E7C323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00" y="2655689"/>
                <a:ext cx="5421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31B123-8AD4-B64B-B11F-381EF1B314BC}"/>
              </a:ext>
            </a:extLst>
          </p:cNvPr>
          <p:cNvCxnSpPr>
            <a:cxnSpLocks/>
          </p:cNvCxnSpPr>
          <p:nvPr/>
        </p:nvCxnSpPr>
        <p:spPr>
          <a:xfrm>
            <a:off x="2308860" y="2840355"/>
            <a:ext cx="1789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34802B-9AF9-9943-99C0-4617C8BE8245}"/>
              </a:ext>
            </a:extLst>
          </p:cNvPr>
          <p:cNvCxnSpPr>
            <a:cxnSpLocks/>
          </p:cNvCxnSpPr>
          <p:nvPr/>
        </p:nvCxnSpPr>
        <p:spPr>
          <a:xfrm>
            <a:off x="2846070" y="2840355"/>
            <a:ext cx="3249930" cy="0"/>
          </a:xfrm>
          <a:prstGeom prst="line">
            <a:avLst/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6D8664-B7D1-3145-BC33-B273BE6283D0}"/>
              </a:ext>
            </a:extLst>
          </p:cNvPr>
          <p:cNvCxnSpPr>
            <a:cxnSpLocks/>
          </p:cNvCxnSpPr>
          <p:nvPr/>
        </p:nvCxnSpPr>
        <p:spPr>
          <a:xfrm flipH="1">
            <a:off x="4532305" y="1794510"/>
            <a:ext cx="620" cy="1985784"/>
          </a:xfrm>
          <a:prstGeom prst="line">
            <a:avLst/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CF1CC5B-6DDD-1E41-9249-538415B91D17}"/>
              </a:ext>
            </a:extLst>
          </p:cNvPr>
          <p:cNvCxnSpPr>
            <a:cxnSpLocks/>
          </p:cNvCxnSpPr>
          <p:nvPr/>
        </p:nvCxnSpPr>
        <p:spPr>
          <a:xfrm flipH="1">
            <a:off x="4017955" y="3531870"/>
            <a:ext cx="51435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77F8F8-4918-A640-B3AE-48B232065AFF}"/>
              </a:ext>
            </a:extLst>
          </p:cNvPr>
          <p:cNvCxnSpPr>
            <a:cxnSpLocks/>
          </p:cNvCxnSpPr>
          <p:nvPr/>
        </p:nvCxnSpPr>
        <p:spPr>
          <a:xfrm>
            <a:off x="4532305" y="3531870"/>
            <a:ext cx="47403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AEB19-3FDF-E94A-92C0-AD1B0039DD3A}"/>
                  </a:ext>
                </a:extLst>
              </p:cNvPr>
              <p:cNvSpPr txBox="1"/>
              <p:nvPr/>
            </p:nvSpPr>
            <p:spPr>
              <a:xfrm>
                <a:off x="7630358" y="1797388"/>
                <a:ext cx="37234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For example, given a set of training examples, i.e. their tumour size and known diagnosis (either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/>
                  <a:t> or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/>
                  <a:t>), we can fit a linear regression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69AEB19-3FDF-E94A-92C0-AD1B0039D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358" y="1797388"/>
                <a:ext cx="3723442" cy="2308324"/>
              </a:xfrm>
              <a:prstGeom prst="rect">
                <a:avLst/>
              </a:prstGeom>
              <a:blipFill>
                <a:blip r:embed="rId8"/>
                <a:stretch>
                  <a:fillRect l="-2381" t="-2198" b="-4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76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56AF-694B-574C-BCC0-AC612BD6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Linear Regression for Classification Is </a:t>
            </a:r>
            <a:r>
              <a:rPr lang="en-GB" i="1" dirty="0"/>
              <a:t>Not a Great Idea </a:t>
            </a:r>
            <a:r>
              <a:rPr lang="en-GB" dirty="0"/>
              <a:t>– One Problem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86998-BDA8-644C-AD15-E04684F7A241}"/>
              </a:ext>
            </a:extLst>
          </p:cNvPr>
          <p:cNvCxnSpPr>
            <a:cxnSpLocks/>
          </p:cNvCxnSpPr>
          <p:nvPr/>
        </p:nvCxnSpPr>
        <p:spPr>
          <a:xfrm>
            <a:off x="2308860" y="3691890"/>
            <a:ext cx="74752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3FF2F5-4221-9E4B-BABD-9A8267066942}"/>
              </a:ext>
            </a:extLst>
          </p:cNvPr>
          <p:cNvCxnSpPr>
            <a:cxnSpLocks/>
          </p:cNvCxnSpPr>
          <p:nvPr/>
        </p:nvCxnSpPr>
        <p:spPr>
          <a:xfrm flipV="1">
            <a:off x="2457450" y="1794510"/>
            <a:ext cx="0" cy="209169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B9E35-8CF3-E043-8A1A-134937490709}"/>
                  </a:ext>
                </a:extLst>
              </p:cNvPr>
              <p:cNvSpPr txBox="1"/>
              <p:nvPr/>
            </p:nvSpPr>
            <p:spPr>
              <a:xfrm>
                <a:off x="1440180" y="3509010"/>
                <a:ext cx="8418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/>
                  <a:t>(No)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B9E35-8CF3-E043-8A1A-134937490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3509010"/>
                <a:ext cx="841897" cy="400110"/>
              </a:xfrm>
              <a:prstGeom prst="rect">
                <a:avLst/>
              </a:prstGeom>
              <a:blipFill>
                <a:blip r:embed="rId2"/>
                <a:stretch>
                  <a:fillRect l="-5882" t="-9375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7DA411-467E-BB46-A7B5-332F339421E3}"/>
                  </a:ext>
                </a:extLst>
              </p:cNvPr>
              <p:cNvSpPr txBox="1"/>
              <p:nvPr/>
            </p:nvSpPr>
            <p:spPr>
              <a:xfrm>
                <a:off x="1440180" y="1958340"/>
                <a:ext cx="8739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/>
                  <a:t>(Yes)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7DA411-467E-BB46-A7B5-332F3394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1958340"/>
                <a:ext cx="873957" cy="400110"/>
              </a:xfrm>
              <a:prstGeom prst="rect">
                <a:avLst/>
              </a:prstGeom>
              <a:blipFill>
                <a:blip r:embed="rId3"/>
                <a:stretch>
                  <a:fillRect l="-5714" t="-6061" b="-212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6F91E5F-0EA9-7A44-BAC4-A555B7397042}"/>
              </a:ext>
            </a:extLst>
          </p:cNvPr>
          <p:cNvSpPr txBox="1"/>
          <p:nvPr/>
        </p:nvSpPr>
        <p:spPr>
          <a:xfrm>
            <a:off x="855718" y="2596038"/>
            <a:ext cx="1362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Malignant?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4E188-0267-C442-B285-70BB0CFD832E}"/>
              </a:ext>
            </a:extLst>
          </p:cNvPr>
          <p:cNvSpPr txBox="1"/>
          <p:nvPr/>
        </p:nvSpPr>
        <p:spPr>
          <a:xfrm>
            <a:off x="3206557" y="3780294"/>
            <a:ext cx="1451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Tumour Size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8C0E1-AE2C-4648-8DA7-67EE2FFEDC72}"/>
              </a:ext>
            </a:extLst>
          </p:cNvPr>
          <p:cNvSpPr txBox="1"/>
          <p:nvPr/>
        </p:nvSpPr>
        <p:spPr>
          <a:xfrm>
            <a:off x="2716110" y="3509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 ✕ ✕ 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2091-12D0-B04B-98F6-DA5BB9C3F530}"/>
              </a:ext>
            </a:extLst>
          </p:cNvPr>
          <p:cNvSpPr txBox="1"/>
          <p:nvPr/>
        </p:nvSpPr>
        <p:spPr>
          <a:xfrm>
            <a:off x="4890221" y="19583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  ✕ ✕  ✕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51FB59-1675-5447-8751-51A60748B9AE}"/>
              </a:ext>
            </a:extLst>
          </p:cNvPr>
          <p:cNvCxnSpPr/>
          <p:nvPr/>
        </p:nvCxnSpPr>
        <p:spPr>
          <a:xfrm flipV="1">
            <a:off x="2573624" y="1958340"/>
            <a:ext cx="3394710" cy="21125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28E25-FC89-AC46-A37D-4A8505DB25A5}"/>
                  </a:ext>
                </a:extLst>
              </p:cNvPr>
              <p:cNvSpPr txBox="1"/>
              <p:nvPr/>
            </p:nvSpPr>
            <p:spPr>
              <a:xfrm>
                <a:off x="5968334" y="1729601"/>
                <a:ext cx="16723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28E25-FC89-AC46-A37D-4A8505DB2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334" y="1729601"/>
                <a:ext cx="16723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73967B-951B-EE41-8AC5-AB00D8E41587}"/>
                  </a:ext>
                </a:extLst>
              </p:cNvPr>
              <p:cNvSpPr txBox="1"/>
              <p:nvPr/>
            </p:nvSpPr>
            <p:spPr>
              <a:xfrm>
                <a:off x="855719" y="4325223"/>
                <a:ext cx="1058571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When a new training example is added, we get another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2400" dirty="0"/>
                  <a:t>, which will misclassify two previous positive training examples as negative, with the same threshold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GB" sz="2400" dirty="0"/>
                  <a:t> at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sz="2400" dirty="0"/>
                  <a:t>:</a:t>
                </a:r>
              </a:p>
              <a:p>
                <a:r>
                  <a:rPr lang="en-GB" sz="2400" dirty="0"/>
                  <a:t>	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GB" sz="2400" dirty="0"/>
              </a:p>
              <a:p>
                <a:r>
                  <a:rPr lang="en-GB" sz="2400" dirty="0"/>
                  <a:t>	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/>
                  <a:t>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73967B-951B-EE41-8AC5-AB00D8E4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19" y="4325223"/>
                <a:ext cx="10585712" cy="1938992"/>
              </a:xfrm>
              <a:prstGeom prst="rect">
                <a:avLst/>
              </a:prstGeom>
              <a:blipFill>
                <a:blip r:embed="rId5"/>
                <a:stretch>
                  <a:fillRect l="-719" t="-1961" b="-65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1E95D3-ACE4-6D49-8C49-B6E7C3238CA8}"/>
                  </a:ext>
                </a:extLst>
              </p:cNvPr>
              <p:cNvSpPr txBox="1"/>
              <p:nvPr/>
            </p:nvSpPr>
            <p:spPr>
              <a:xfrm>
                <a:off x="2436400" y="2655689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1E95D3-ACE4-6D49-8C49-B6E7C323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00" y="2655689"/>
                <a:ext cx="5421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31B123-8AD4-B64B-B11F-381EF1B314BC}"/>
              </a:ext>
            </a:extLst>
          </p:cNvPr>
          <p:cNvCxnSpPr>
            <a:cxnSpLocks/>
          </p:cNvCxnSpPr>
          <p:nvPr/>
        </p:nvCxnSpPr>
        <p:spPr>
          <a:xfrm>
            <a:off x="2308860" y="2840355"/>
            <a:ext cx="1789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34802B-9AF9-9943-99C0-4617C8BE8245}"/>
              </a:ext>
            </a:extLst>
          </p:cNvPr>
          <p:cNvCxnSpPr>
            <a:cxnSpLocks/>
          </p:cNvCxnSpPr>
          <p:nvPr/>
        </p:nvCxnSpPr>
        <p:spPr>
          <a:xfrm>
            <a:off x="2846070" y="2840355"/>
            <a:ext cx="1851660" cy="0"/>
          </a:xfrm>
          <a:prstGeom prst="line">
            <a:avLst/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6D8664-B7D1-3145-BC33-B273BE6283D0}"/>
              </a:ext>
            </a:extLst>
          </p:cNvPr>
          <p:cNvCxnSpPr>
            <a:cxnSpLocks/>
          </p:cNvCxnSpPr>
          <p:nvPr/>
        </p:nvCxnSpPr>
        <p:spPr>
          <a:xfrm>
            <a:off x="4532305" y="2655689"/>
            <a:ext cx="620" cy="1001911"/>
          </a:xfrm>
          <a:prstGeom prst="line">
            <a:avLst/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EA52F88-D78A-BD4B-9B24-E7ACDA91FB06}"/>
              </a:ext>
            </a:extLst>
          </p:cNvPr>
          <p:cNvSpPr txBox="1"/>
          <p:nvPr/>
        </p:nvSpPr>
        <p:spPr>
          <a:xfrm>
            <a:off x="8168138" y="197372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8D3458-B259-8948-A37C-4407E192B2E3}"/>
              </a:ext>
            </a:extLst>
          </p:cNvPr>
          <p:cNvCxnSpPr>
            <a:cxnSpLocks/>
          </p:cNvCxnSpPr>
          <p:nvPr/>
        </p:nvCxnSpPr>
        <p:spPr>
          <a:xfrm flipV="1">
            <a:off x="2532715" y="1732956"/>
            <a:ext cx="5932065" cy="21761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E2B8CA-CD54-3447-99F8-7D6C2971651B}"/>
              </a:ext>
            </a:extLst>
          </p:cNvPr>
          <p:cNvCxnSpPr>
            <a:cxnSpLocks/>
          </p:cNvCxnSpPr>
          <p:nvPr/>
        </p:nvCxnSpPr>
        <p:spPr>
          <a:xfrm flipV="1">
            <a:off x="4697730" y="2821038"/>
            <a:ext cx="1270604" cy="1995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7CCF06-530A-C641-BA19-2B18E4730CFF}"/>
              </a:ext>
            </a:extLst>
          </p:cNvPr>
          <p:cNvCxnSpPr>
            <a:cxnSpLocks/>
          </p:cNvCxnSpPr>
          <p:nvPr/>
        </p:nvCxnSpPr>
        <p:spPr>
          <a:xfrm>
            <a:off x="5440680" y="1794510"/>
            <a:ext cx="6736" cy="198578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E06CE6-0A40-374E-A7EA-E9381C7BB7EA}"/>
              </a:ext>
            </a:extLst>
          </p:cNvPr>
          <p:cNvCxnSpPr>
            <a:cxnSpLocks/>
          </p:cNvCxnSpPr>
          <p:nvPr/>
        </p:nvCxnSpPr>
        <p:spPr>
          <a:xfrm flipH="1">
            <a:off x="4017955" y="3531870"/>
            <a:ext cx="51435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197472-E6E0-AB47-A0F5-541756F8A108}"/>
              </a:ext>
            </a:extLst>
          </p:cNvPr>
          <p:cNvCxnSpPr>
            <a:cxnSpLocks/>
          </p:cNvCxnSpPr>
          <p:nvPr/>
        </p:nvCxnSpPr>
        <p:spPr>
          <a:xfrm>
            <a:off x="4532305" y="3531870"/>
            <a:ext cx="47403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A823CA-5166-4B4A-9075-ABEC6A416FF7}"/>
              </a:ext>
            </a:extLst>
          </p:cNvPr>
          <p:cNvCxnSpPr/>
          <p:nvPr/>
        </p:nvCxnSpPr>
        <p:spPr>
          <a:xfrm flipH="1">
            <a:off x="5006340" y="3329940"/>
            <a:ext cx="42291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27A5E5-2964-124C-9377-951D6580E4C1}"/>
              </a:ext>
            </a:extLst>
          </p:cNvPr>
          <p:cNvCxnSpPr>
            <a:cxnSpLocks/>
          </p:cNvCxnSpPr>
          <p:nvPr/>
        </p:nvCxnSpPr>
        <p:spPr>
          <a:xfrm>
            <a:off x="5435986" y="3329940"/>
            <a:ext cx="395844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5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56AF-694B-574C-BCC0-AC612BD6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Linear Regression for Classification Is </a:t>
            </a:r>
            <a:r>
              <a:rPr lang="en-GB" i="1" dirty="0"/>
              <a:t>Not a Great Idea </a:t>
            </a:r>
            <a:r>
              <a:rPr lang="en-GB" dirty="0"/>
              <a:t>– Another Problem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E86998-BDA8-644C-AD15-E04684F7A241}"/>
              </a:ext>
            </a:extLst>
          </p:cNvPr>
          <p:cNvCxnSpPr>
            <a:cxnSpLocks/>
          </p:cNvCxnSpPr>
          <p:nvPr/>
        </p:nvCxnSpPr>
        <p:spPr>
          <a:xfrm>
            <a:off x="2308860" y="3691890"/>
            <a:ext cx="74752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3FF2F5-4221-9E4B-BABD-9A8267066942}"/>
              </a:ext>
            </a:extLst>
          </p:cNvPr>
          <p:cNvCxnSpPr>
            <a:cxnSpLocks/>
          </p:cNvCxnSpPr>
          <p:nvPr/>
        </p:nvCxnSpPr>
        <p:spPr>
          <a:xfrm flipV="1">
            <a:off x="2457450" y="1794510"/>
            <a:ext cx="0" cy="209169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B9E35-8CF3-E043-8A1A-134937490709}"/>
                  </a:ext>
                </a:extLst>
              </p:cNvPr>
              <p:cNvSpPr txBox="1"/>
              <p:nvPr/>
            </p:nvSpPr>
            <p:spPr>
              <a:xfrm>
                <a:off x="1440180" y="3509010"/>
                <a:ext cx="8418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/>
                  <a:t>(No)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EB9E35-8CF3-E043-8A1A-134937490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3509010"/>
                <a:ext cx="841897" cy="400110"/>
              </a:xfrm>
              <a:prstGeom prst="rect">
                <a:avLst/>
              </a:prstGeom>
              <a:blipFill>
                <a:blip r:embed="rId2"/>
                <a:stretch>
                  <a:fillRect l="-5882" t="-9375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7DA411-467E-BB46-A7B5-332F339421E3}"/>
                  </a:ext>
                </a:extLst>
              </p:cNvPr>
              <p:cNvSpPr txBox="1"/>
              <p:nvPr/>
            </p:nvSpPr>
            <p:spPr>
              <a:xfrm>
                <a:off x="1440180" y="1958340"/>
                <a:ext cx="8739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/>
                  <a:t>(Yes)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sz="20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7DA411-467E-BB46-A7B5-332F33942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1958340"/>
                <a:ext cx="873957" cy="400110"/>
              </a:xfrm>
              <a:prstGeom prst="rect">
                <a:avLst/>
              </a:prstGeom>
              <a:blipFill>
                <a:blip r:embed="rId3"/>
                <a:stretch>
                  <a:fillRect l="-5714" t="-6061" b="-212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6F91E5F-0EA9-7A44-BAC4-A555B7397042}"/>
              </a:ext>
            </a:extLst>
          </p:cNvPr>
          <p:cNvSpPr txBox="1"/>
          <p:nvPr/>
        </p:nvSpPr>
        <p:spPr>
          <a:xfrm>
            <a:off x="855718" y="2596038"/>
            <a:ext cx="1362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Malignant?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4E188-0267-C442-B285-70BB0CFD832E}"/>
              </a:ext>
            </a:extLst>
          </p:cNvPr>
          <p:cNvSpPr txBox="1"/>
          <p:nvPr/>
        </p:nvSpPr>
        <p:spPr>
          <a:xfrm>
            <a:off x="3206557" y="3780294"/>
            <a:ext cx="1451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/>
              <a:t>Tumour Size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8C0E1-AE2C-4648-8DA7-67EE2FFEDC72}"/>
              </a:ext>
            </a:extLst>
          </p:cNvPr>
          <p:cNvSpPr txBox="1"/>
          <p:nvPr/>
        </p:nvSpPr>
        <p:spPr>
          <a:xfrm>
            <a:off x="2716110" y="350901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 ✕ ✕ ✕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722091-12D0-B04B-98F6-DA5BB9C3F530}"/>
              </a:ext>
            </a:extLst>
          </p:cNvPr>
          <p:cNvSpPr txBox="1"/>
          <p:nvPr/>
        </p:nvSpPr>
        <p:spPr>
          <a:xfrm>
            <a:off x="4890221" y="1958340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  ✕ ✕  ✕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51FB59-1675-5447-8751-51A60748B9AE}"/>
              </a:ext>
            </a:extLst>
          </p:cNvPr>
          <p:cNvCxnSpPr/>
          <p:nvPr/>
        </p:nvCxnSpPr>
        <p:spPr>
          <a:xfrm flipV="1">
            <a:off x="2573624" y="1958340"/>
            <a:ext cx="3394710" cy="211252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28E25-FC89-AC46-A37D-4A8505DB25A5}"/>
                  </a:ext>
                </a:extLst>
              </p:cNvPr>
              <p:cNvSpPr txBox="1"/>
              <p:nvPr/>
            </p:nvSpPr>
            <p:spPr>
              <a:xfrm>
                <a:off x="5968334" y="1729601"/>
                <a:ext cx="16723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28E25-FC89-AC46-A37D-4A8505DB2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334" y="1729601"/>
                <a:ext cx="1672317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73967B-951B-EE41-8AC5-AB00D8E41587}"/>
                  </a:ext>
                </a:extLst>
              </p:cNvPr>
              <p:cNvSpPr txBox="1"/>
              <p:nvPr/>
            </p:nvSpPr>
            <p:spPr>
              <a:xfrm>
                <a:off x="838200" y="4419055"/>
                <a:ext cx="1058571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/>
                  <a:t>Logistic regression requires: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/>
                  <a:t>, but using a linear regression algorithm we can 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/>
                  <a:t> 	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/>
                  <a:t>We want to have a logistic regression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/>
                  <a:t>, so that we will always have: 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GB" sz="240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73967B-951B-EE41-8AC5-AB00D8E41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419055"/>
                <a:ext cx="10585712" cy="1569660"/>
              </a:xfrm>
              <a:prstGeom prst="rect">
                <a:avLst/>
              </a:prstGeom>
              <a:blipFill>
                <a:blip r:embed="rId5"/>
                <a:stretch>
                  <a:fillRect l="-719" t="-2419" r="-1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1E95D3-ACE4-6D49-8C49-B6E7C3238CA8}"/>
                  </a:ext>
                </a:extLst>
              </p:cNvPr>
              <p:cNvSpPr txBox="1"/>
              <p:nvPr/>
            </p:nvSpPr>
            <p:spPr>
              <a:xfrm>
                <a:off x="2436400" y="2655689"/>
                <a:ext cx="542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1E95D3-ACE4-6D49-8C49-B6E7C323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400" y="2655689"/>
                <a:ext cx="5421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331B123-8AD4-B64B-B11F-381EF1B314BC}"/>
              </a:ext>
            </a:extLst>
          </p:cNvPr>
          <p:cNvCxnSpPr>
            <a:cxnSpLocks/>
          </p:cNvCxnSpPr>
          <p:nvPr/>
        </p:nvCxnSpPr>
        <p:spPr>
          <a:xfrm>
            <a:off x="2308860" y="2840355"/>
            <a:ext cx="17896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734802B-9AF9-9943-99C0-4617C8BE8245}"/>
              </a:ext>
            </a:extLst>
          </p:cNvPr>
          <p:cNvCxnSpPr>
            <a:cxnSpLocks/>
          </p:cNvCxnSpPr>
          <p:nvPr/>
        </p:nvCxnSpPr>
        <p:spPr>
          <a:xfrm>
            <a:off x="2846070" y="2840355"/>
            <a:ext cx="1851660" cy="0"/>
          </a:xfrm>
          <a:prstGeom prst="line">
            <a:avLst/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6D8664-B7D1-3145-BC33-B273BE6283D0}"/>
              </a:ext>
            </a:extLst>
          </p:cNvPr>
          <p:cNvCxnSpPr>
            <a:cxnSpLocks/>
          </p:cNvCxnSpPr>
          <p:nvPr/>
        </p:nvCxnSpPr>
        <p:spPr>
          <a:xfrm>
            <a:off x="4532305" y="2655689"/>
            <a:ext cx="620" cy="1001911"/>
          </a:xfrm>
          <a:prstGeom prst="line">
            <a:avLst/>
          </a:prstGeom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EA52F88-D78A-BD4B-9B24-E7ACDA91FB06}"/>
              </a:ext>
            </a:extLst>
          </p:cNvPr>
          <p:cNvSpPr txBox="1"/>
          <p:nvPr/>
        </p:nvSpPr>
        <p:spPr>
          <a:xfrm>
            <a:off x="8168138" y="1973729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rgbClr val="C00000"/>
                </a:solidFill>
              </a:rPr>
              <a:t>✕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58D3458-B259-8948-A37C-4407E192B2E3}"/>
              </a:ext>
            </a:extLst>
          </p:cNvPr>
          <p:cNvCxnSpPr>
            <a:cxnSpLocks/>
          </p:cNvCxnSpPr>
          <p:nvPr/>
        </p:nvCxnSpPr>
        <p:spPr>
          <a:xfrm flipV="1">
            <a:off x="2532715" y="1732956"/>
            <a:ext cx="5932065" cy="217616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E2B8CA-CD54-3447-99F8-7D6C2971651B}"/>
              </a:ext>
            </a:extLst>
          </p:cNvPr>
          <p:cNvCxnSpPr>
            <a:cxnSpLocks/>
          </p:cNvCxnSpPr>
          <p:nvPr/>
        </p:nvCxnSpPr>
        <p:spPr>
          <a:xfrm flipV="1">
            <a:off x="4697730" y="2821038"/>
            <a:ext cx="1270604" cy="1995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7CCF06-530A-C641-BA19-2B18E4730CFF}"/>
              </a:ext>
            </a:extLst>
          </p:cNvPr>
          <p:cNvCxnSpPr>
            <a:cxnSpLocks/>
          </p:cNvCxnSpPr>
          <p:nvPr/>
        </p:nvCxnSpPr>
        <p:spPr>
          <a:xfrm>
            <a:off x="5435986" y="2668845"/>
            <a:ext cx="620" cy="100191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E06CE6-0A40-374E-A7EA-E9381C7BB7EA}"/>
              </a:ext>
            </a:extLst>
          </p:cNvPr>
          <p:cNvCxnSpPr>
            <a:cxnSpLocks/>
          </p:cNvCxnSpPr>
          <p:nvPr/>
        </p:nvCxnSpPr>
        <p:spPr>
          <a:xfrm flipH="1">
            <a:off x="4017955" y="3531870"/>
            <a:ext cx="51435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197472-E6E0-AB47-A0F5-541756F8A108}"/>
              </a:ext>
            </a:extLst>
          </p:cNvPr>
          <p:cNvCxnSpPr>
            <a:cxnSpLocks/>
          </p:cNvCxnSpPr>
          <p:nvPr/>
        </p:nvCxnSpPr>
        <p:spPr>
          <a:xfrm>
            <a:off x="4532305" y="3531870"/>
            <a:ext cx="47403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A823CA-5166-4B4A-9075-ABEC6A416FF7}"/>
              </a:ext>
            </a:extLst>
          </p:cNvPr>
          <p:cNvCxnSpPr/>
          <p:nvPr/>
        </p:nvCxnSpPr>
        <p:spPr>
          <a:xfrm flipH="1">
            <a:off x="5006340" y="3329940"/>
            <a:ext cx="42291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27A5E5-2964-124C-9377-951D6580E4C1}"/>
              </a:ext>
            </a:extLst>
          </p:cNvPr>
          <p:cNvCxnSpPr>
            <a:cxnSpLocks/>
          </p:cNvCxnSpPr>
          <p:nvPr/>
        </p:nvCxnSpPr>
        <p:spPr>
          <a:xfrm>
            <a:off x="5435986" y="3329940"/>
            <a:ext cx="395844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974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Model – Hypothesis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842760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We want to have a logistic regression hypothesis,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, that satisfies the </a:t>
                </a:r>
                <a:r>
                  <a:rPr lang="en-GB" i="1" dirty="0"/>
                  <a:t>two properties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GB" dirty="0"/>
                  <a:t> and a threshold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GB" dirty="0"/>
                  <a:t> to separate positive and negative classes</a:t>
                </a:r>
              </a:p>
              <a:p>
                <a:r>
                  <a:rPr lang="en-US" dirty="0"/>
                  <a:t>We can apply a </a:t>
                </a:r>
                <a:r>
                  <a:rPr lang="en-US" i="1" dirty="0"/>
                  <a:t>Sigmoid function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to the output of a linear model, which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satisfies the two required properties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842760" cy="4351338"/>
              </a:xfrm>
              <a:blipFill>
                <a:blip r:embed="rId3"/>
                <a:stretch>
                  <a:fillRect l="-1481" t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F1CC2-B706-744C-AC10-80BA36F63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340" y="1916383"/>
            <a:ext cx="3672840" cy="27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8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Model – Hypothesis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84276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apply a Sigmoid function,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,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by replacing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so that we have a new hypothesis:</a:t>
                </a:r>
              </a:p>
              <a:p>
                <a:pPr marL="0" indent="0">
                  <a:buNone/>
                </a:pPr>
                <a:r>
                  <a:rPr lang="en-US" dirty="0"/>
                  <a:t> 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We can fit this hypothesis as a logistic regression model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842760" cy="4351338"/>
              </a:xfrm>
              <a:blipFill>
                <a:blip r:embed="rId3"/>
                <a:stretch>
                  <a:fillRect l="-1670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D42BE-BCB0-AC48-8602-10EF3D7DF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388869"/>
            <a:ext cx="3714750" cy="27860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0985C9-1C8E-1593-AD99-3C3DEA321DFF}"/>
                  </a:ext>
                </a:extLst>
              </p:cNvPr>
              <p:cNvSpPr txBox="1"/>
              <p:nvPr/>
            </p:nvSpPr>
            <p:spPr>
              <a:xfrm>
                <a:off x="6803756" y="5174932"/>
                <a:ext cx="38211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Note that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0985C9-1C8E-1593-AD99-3C3DEA321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756" y="5174932"/>
                <a:ext cx="3821111" cy="369332"/>
              </a:xfrm>
              <a:prstGeom prst="rect">
                <a:avLst/>
              </a:prstGeom>
              <a:blipFill>
                <a:blip r:embed="rId5"/>
                <a:stretch>
                  <a:fillRect l="-132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76FB5C4-3EBA-A299-671C-082A48D01B7A}"/>
              </a:ext>
            </a:extLst>
          </p:cNvPr>
          <p:cNvSpPr txBox="1"/>
          <p:nvPr/>
        </p:nvSpPr>
        <p:spPr>
          <a:xfrm>
            <a:off x="925975" y="5266481"/>
            <a:ext cx="58589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function for logistic regression is actual a combination </a:t>
            </a:r>
          </a:p>
          <a:p>
            <a:r>
              <a:rPr lang="en-US" dirty="0">
                <a:solidFill>
                  <a:srgbClr val="C00000"/>
                </a:solidFill>
              </a:rPr>
              <a:t>of two functions, the linear function for liner regression </a:t>
            </a:r>
          </a:p>
          <a:p>
            <a:r>
              <a:rPr lang="en-US" dirty="0">
                <a:solidFill>
                  <a:srgbClr val="C00000"/>
                </a:solidFill>
              </a:rPr>
              <a:t>and the sigmoid function.</a:t>
            </a:r>
          </a:p>
        </p:txBody>
      </p:sp>
    </p:spTree>
    <p:extLst>
      <p:ext uri="{BB962C8B-B14F-4D97-AF65-F5344CB8AC3E}">
        <p14:creationId xmlns:p14="http://schemas.microsoft.com/office/powerpoint/2010/main" val="362350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D66BC9-C199-F230-4442-062551D143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dirty="0"/>
                  <a:t> Work?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5D66BC9-C199-F230-4442-062551D14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603563D-E693-0831-0618-99545938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2465"/>
            <a:ext cx="6742616" cy="4495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E2CE97-3552-C097-52F0-7259E3F57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0" y="1372465"/>
            <a:ext cx="42418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11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Model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We can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as an </a:t>
                </a:r>
                <a:r>
                  <a:rPr lang="en-GB" i="1" dirty="0"/>
                  <a:t>estimated probability </a:t>
                </a:r>
                <a:r>
                  <a:rPr lang="en-GB" dirty="0"/>
                  <a:t>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on input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Example: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𝑡𝑢𝑚𝑜𝑟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𝑠𝑖𝑧𝑒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	tells that patient has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en-GB" dirty="0"/>
                  <a:t> chance of tumour being malignant </a:t>
                </a:r>
              </a:p>
              <a:p>
                <a:r>
                  <a:rPr lang="en-US" dirty="0"/>
                  <a:t>In probability, this is represented as</a:t>
                </a:r>
              </a:p>
              <a:p>
                <a:pPr marL="0" indent="0">
                  <a:buNone/>
                </a:pPr>
                <a:r>
                  <a:rPr lang="en-US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reads as the probability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	</a:t>
                </a:r>
                <a:r>
                  <a:rPr lang="en-GB" dirty="0"/>
                  <a:t>parameterised</a:t>
                </a:r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As either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we have: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5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–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341158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Takes a training dataset, pairs of given values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axis) and predictions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axis)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training examples, as input,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cancer diagnoses,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plot all the training examples in the dataset,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fit a </a:t>
                </a:r>
                <a:r>
                  <a:rPr lang="en-US" i="1" dirty="0"/>
                  <a:t>linear regression model</a:t>
                </a:r>
                <a:r>
                  <a:rPr lang="en-US" dirty="0"/>
                  <a:t>,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As shown in the figure, if we set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 as the threshold, </a:t>
                </a:r>
                <a:r>
                  <a:rPr lang="en-US" dirty="0">
                    <a:solidFill>
                      <a:srgbClr val="C00000"/>
                    </a:solidFill>
                  </a:rPr>
                  <a:t>the decision boundary is 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so that any data point with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 will be classified as negative and any data point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−1≥0</m:t>
                    </m:r>
                  </m:oMath>
                </a14:m>
                <a:r>
                  <a:rPr lang="en-US" dirty="0"/>
                  <a:t>) as positives; Also, the value of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calculated by the linear model is not within the range of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 and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 only.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341158" cy="4351338"/>
              </a:xfrm>
              <a:blipFill>
                <a:blip r:embed="rId3"/>
                <a:stretch>
                  <a:fillRect l="-1400" t="-2616" r="-1200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B8E07E-94C3-614C-AC72-31507E40D464}"/>
                  </a:ext>
                </a:extLst>
              </p:cNvPr>
              <p:cNvSpPr/>
              <p:nvPr/>
            </p:nvSpPr>
            <p:spPr>
              <a:xfrm>
                <a:off x="7297275" y="1712596"/>
                <a:ext cx="437754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Hypothesis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GB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?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? so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B8E07E-94C3-614C-AC72-31507E40D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275" y="1712596"/>
                <a:ext cx="4377545" cy="923330"/>
              </a:xfrm>
              <a:prstGeom prst="rect">
                <a:avLst/>
              </a:prstGeom>
              <a:blipFill>
                <a:blip r:embed="rId4"/>
                <a:stretch>
                  <a:fillRect l="-1159" t="-2703" r="-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1EB19FD-FD59-C04A-BD91-9068712C9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4034" y="2418239"/>
            <a:ext cx="3166110" cy="31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13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–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Takes a training dataset, pairs of given values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axis) and predictions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axis)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training examples, as input,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cancer diagnoses, </a:t>
                </a:r>
              </a:p>
              <a:p>
                <a:r>
                  <a:rPr lang="en-US" dirty="0"/>
                  <a:t>plot all the training examples in the dataset,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fit a </a:t>
                </a:r>
                <a:r>
                  <a:rPr lang="en-US" i="1" dirty="0"/>
                  <a:t>logistic regression model</a:t>
                </a:r>
                <a:r>
                  <a:rPr lang="en-US" dirty="0"/>
                  <a:t> (e.g.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), 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/>
                  <a:t>As shown in the figure, with the logistic regression model, </a:t>
                </a:r>
                <a:r>
                  <a:rPr lang="en-GB" dirty="0">
                    <a:solidFill>
                      <a:srgbClr val="C00000"/>
                    </a:solidFill>
                  </a:rPr>
                  <a:t>the decision boundary is 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≈0.24</m:t>
                    </m:r>
                  </m:oMath>
                </a14:m>
                <a:r>
                  <a:rPr lang="en-GB" dirty="0"/>
                  <a:t> so that it will misclassify a few positive examples with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&lt;0.24</m:t>
                    </m:r>
                  </m:oMath>
                </a14:m>
                <a:r>
                  <a:rPr lang="en-GB" dirty="0"/>
                  <a:t> as negatives (false negatives) and a few negative examples with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≥0.24</m:t>
                    </m:r>
                  </m:oMath>
                </a14:m>
                <a:r>
                  <a:rPr lang="en-GB" dirty="0"/>
                  <a:t> as positives (false positives); Also, the value of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calculated by the logistic model is in the range of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 and 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 only.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  <a:blipFill>
                <a:blip r:embed="rId3"/>
                <a:stretch>
                  <a:fillRect l="-1293" t="-2326" r="-2371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B8E07E-94C3-614C-AC72-31507E40D464}"/>
                  </a:ext>
                </a:extLst>
              </p:cNvPr>
              <p:cNvSpPr/>
              <p:nvPr/>
            </p:nvSpPr>
            <p:spPr>
              <a:xfrm>
                <a:off x="6732270" y="1690688"/>
                <a:ext cx="4937760" cy="10389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Hypothesis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GB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?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? so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B8E07E-94C3-614C-AC72-31507E40D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70" y="1690688"/>
                <a:ext cx="4937760" cy="1038939"/>
              </a:xfrm>
              <a:prstGeom prst="rect">
                <a:avLst/>
              </a:prstGeom>
              <a:blipFill>
                <a:blip r:embed="rId4"/>
                <a:stretch>
                  <a:fillRect l="-769" r="-2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0273D30-B98C-9848-86E0-98E56F38A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430" y="2454593"/>
            <a:ext cx="3722370" cy="37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4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– 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predict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so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dirty="0"/>
                  <a:t>  whenever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Similarly, we can predict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so,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   </a:t>
                </a:r>
              </a:p>
              <a:p>
                <a:pPr marL="0" indent="0">
                  <a:buNone/>
                </a:pPr>
                <a:r>
                  <a:rPr lang="en-US" dirty="0"/>
                  <a:t>  whenever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is called the decision boundary when</a:t>
                </a:r>
                <a14:m>
                  <m:oMath xmlns:m="http://schemas.openxmlformats.org/officeDocument/2006/math">
                    <m:r>
                      <a:rPr lang="en-GB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(threshold) because we can make a decision based on it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  <a:blipFill>
                <a:blip r:embed="rId3"/>
                <a:stretch>
                  <a:fillRect l="-1509" t="-3198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0771652-1BA8-234E-9B42-D08C136E5D0A}"/>
                  </a:ext>
                </a:extLst>
              </p:cNvPr>
              <p:cNvSpPr/>
              <p:nvPr/>
            </p:nvSpPr>
            <p:spPr>
              <a:xfrm>
                <a:off x="6732270" y="3494728"/>
                <a:ext cx="4621530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1600" dirty="0"/>
                  <a:t>As illustrated,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US" sz="1600" dirty="0"/>
                  <a:t>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/>
                  <a:t>.</a:t>
                </a:r>
                <a:endParaRPr lang="en-GB" sz="1600" dirty="0"/>
              </a:p>
              <a:p>
                <a:r>
                  <a:rPr lang="en-GB" sz="1600" dirty="0"/>
                  <a:t>Replace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sz="1600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to predict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 </a:t>
                </a:r>
                <a:r>
                  <a:rPr lang="en-US" sz="1600" dirty="0"/>
                  <a:t>whenever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 </m:t>
                    </m:r>
                  </m:oMath>
                </a14:m>
                <a:r>
                  <a:rPr lang="en-GB" sz="1600" dirty="0"/>
                  <a:t>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600" dirty="0"/>
                  <a:t> </a:t>
                </a:r>
                <a:r>
                  <a:rPr lang="en-US" sz="1600" dirty="0"/>
                  <a:t>whenever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600" dirty="0"/>
                  <a:t>.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0771652-1BA8-234E-9B42-D08C136E5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70" y="3494728"/>
                <a:ext cx="4621530" cy="830997"/>
              </a:xfrm>
              <a:prstGeom prst="rect">
                <a:avLst/>
              </a:prstGeom>
              <a:blipFill>
                <a:blip r:embed="rId4"/>
                <a:stretch>
                  <a:fillRect l="-546" t="-3030" b="-9091"/>
                </a:stretch>
              </a:blipFill>
            </p:spPr>
            <p:txBody>
              <a:bodyPr/>
              <a:lstStyle/>
              <a:p>
                <a:r>
                  <a:rPr lang="english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FDDC675-AB9E-E24E-B6C1-7D1A5D29C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610" y="1448758"/>
            <a:ext cx="2727960" cy="20459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1B1DA0-B287-C648-8929-31417C7E0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070" y="4325725"/>
            <a:ext cx="2960370" cy="222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5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5A7E-BC4B-C247-8014-30EA6A5A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Find the Decision Boundary?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342E6B-C5E1-734B-BA3D-EF87D5FF3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426" y="1441173"/>
            <a:ext cx="3511826" cy="26338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5FFBA4-59BB-1944-BDEE-87B4E13FD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314" y="1441173"/>
            <a:ext cx="3511826" cy="2633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B950AC-3894-D54F-9E41-3E5296939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917" y="3910563"/>
            <a:ext cx="3569803" cy="26773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8F193-4B09-484F-9CE4-C666C8F6DA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961" y="3959637"/>
            <a:ext cx="3438939" cy="2579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B9443A-A64A-3249-920E-BF1211A0DAD3}"/>
                  </a:ext>
                </a:extLst>
              </p:cNvPr>
              <p:cNvSpPr/>
              <p:nvPr/>
            </p:nvSpPr>
            <p:spPr>
              <a:xfrm>
                <a:off x="838200" y="1506022"/>
                <a:ext cx="3223703" cy="1477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We can choose many different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to satisfy the equation: 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DB9443A-A64A-3249-920E-BF1211A0DA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06022"/>
                <a:ext cx="3223703" cy="1477328"/>
              </a:xfrm>
              <a:prstGeom prst="rect">
                <a:avLst/>
              </a:prstGeom>
              <a:blipFill>
                <a:blip r:embed="rId7"/>
                <a:stretch>
                  <a:fillRect l="-1569" b="-51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BEB537-814B-AD48-9DF8-0A003F45F43A}"/>
                  </a:ext>
                </a:extLst>
              </p:cNvPr>
              <p:cNvSpPr/>
              <p:nvPr/>
            </p:nvSpPr>
            <p:spPr>
              <a:xfrm>
                <a:off x="928160" y="2983350"/>
                <a:ext cx="3727687" cy="37856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example, </a:t>
                </a:r>
              </a:p>
              <a:p>
                <a:r>
                  <a:rPr lang="en-GB" dirty="0"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>
                    <a:ea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−3+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sz="2000" dirty="0">
                    <a:solidFill>
                      <a:srgbClr val="C00000"/>
                    </a:solidFill>
                  </a:rPr>
                  <a:t>Which </a:t>
                </a: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2000" dirty="0">
                    <a:solidFill>
                      <a:srgbClr val="C00000"/>
                    </a:solidFill>
                  </a:rPr>
                  <a:t> fits the data, i.e. the one </a:t>
                </a:r>
              </a:p>
              <a:p>
                <a:r>
                  <a:rPr lang="en-GB" sz="2000" dirty="0">
                    <a:solidFill>
                      <a:srgbClr val="C00000"/>
                    </a:solidFill>
                  </a:rPr>
                  <a:t>that gives the best decision </a:t>
                </a:r>
              </a:p>
              <a:p>
                <a:r>
                  <a:rPr lang="en-GB" sz="2000" dirty="0">
                    <a:solidFill>
                      <a:srgbClr val="C00000"/>
                    </a:solidFill>
                  </a:rPr>
                  <a:t>boundary?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BEB537-814B-AD48-9DF8-0A003F45F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60" y="2983350"/>
                <a:ext cx="3727687" cy="3785652"/>
              </a:xfrm>
              <a:prstGeom prst="rect">
                <a:avLst/>
              </a:prstGeom>
              <a:blipFill>
                <a:blip r:embed="rId8"/>
                <a:stretch>
                  <a:fillRect l="-1356" r="-678" b="-2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12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C1F8A-0A3F-0F42-A000-10F019B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End of Week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9A219-A83F-C940-A569-2F34BD5BC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18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Logistic Regression – 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GB" dirty="0"/>
                  <a:t>Given a training dataset as visualised, we want to fit the hypothesis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US" dirty="0"/>
                  <a:t>Suppose we have already fitted the hypothesis with the following parameters: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predict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=−3+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Similarly, we can predict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if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=−3+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=−3+</m:t>
                        </m:r>
                        <m: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represents a line that separate the two regions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  <a:blipFill>
                <a:blip r:embed="rId3"/>
                <a:stretch>
                  <a:fillRect l="-1293" t="-2907" r="-2155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0771652-1BA8-234E-9B42-D08C136E5D0A}"/>
                  </a:ext>
                </a:extLst>
              </p:cNvPr>
              <p:cNvSpPr/>
              <p:nvPr/>
            </p:nvSpPr>
            <p:spPr>
              <a:xfrm>
                <a:off x="6818382" y="3459821"/>
                <a:ext cx="4894570" cy="33747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GB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GB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=−3+ </m:t>
                        </m:r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(the red line) is called the decision boundary</a:t>
                </a:r>
                <a:r>
                  <a:rPr lang="en-US" sz="2000" dirty="0"/>
                  <a:t> so that for any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on the decision boundary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any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above the decision boundary,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GB" sz="2000" dirty="0"/>
                  <a:t> (i.e.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−3+ </m:t>
                        </m:r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0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any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below the decision boundary,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&lt;3</m:t>
                    </m:r>
                  </m:oMath>
                </a14:m>
                <a:r>
                  <a:rPr lang="en-GB" sz="2000" dirty="0"/>
                  <a:t> (i.e. 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−3+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000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0771652-1BA8-234E-9B42-D08C136E5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382" y="3459821"/>
                <a:ext cx="4894570" cy="3374706"/>
              </a:xfrm>
              <a:prstGeom prst="rect">
                <a:avLst/>
              </a:prstGeom>
              <a:blipFill>
                <a:blip r:embed="rId4"/>
                <a:stretch>
                  <a:fillRect l="-1036" t="-749" r="-23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A9DCA9F3-BA6E-5A4F-BF17-96C9A68F8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085" y="1333991"/>
            <a:ext cx="2922270" cy="219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75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94F-ACB2-194E-BF2A-F6370867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– Fitting the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Given a training dataset as visualised, we want to fit the hypothesis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want to find parameters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using gradient decent to minimise a cost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So we can know the decision boundary,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EDBA94-4215-904D-8B7E-8320A6532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4070" cy="4351338"/>
              </a:xfrm>
              <a:blipFill>
                <a:blip r:embed="rId3"/>
                <a:stretch>
                  <a:fillRect l="-1720" t="-2632" r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2FB636F-2A93-8E4F-810E-4224E1593831}"/>
              </a:ext>
            </a:extLst>
          </p:cNvPr>
          <p:cNvSpPr txBox="1"/>
          <p:nvPr/>
        </p:nvSpPr>
        <p:spPr>
          <a:xfrm>
            <a:off x="564070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672A3B-5AA7-9343-B08D-D3CAB70B9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90" y="1612286"/>
            <a:ext cx="2922270" cy="2191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71D6F33-0E0D-2343-9C15-A78696991972}"/>
                  </a:ext>
                </a:extLst>
              </p:cNvPr>
              <p:cNvSpPr/>
              <p:nvPr/>
            </p:nvSpPr>
            <p:spPr>
              <a:xfrm>
                <a:off x="6732270" y="3803989"/>
                <a:ext cx="4621530" cy="2210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sz="2000" dirty="0"/>
                  <a:t>Suppose we are yet to know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/>
                  <a:t>, i.e. </a:t>
                </a:r>
                <a:endParaRPr lang="en-GB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?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?</m:t>
                              </m:r>
                            </m:e>
                          </m:mr>
                          <m:m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?</m:t>
                              </m:r>
                            </m:e>
                          </m:mr>
                        </m:m>
                      </m:e>
                    </m:d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How can we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/>
                  <a:t> so we can find the decision boundary, i.e. to draw the red line?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71D6F33-0E0D-2343-9C15-A78696991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70" y="3803989"/>
                <a:ext cx="4621530" cy="2210092"/>
              </a:xfrm>
              <a:prstGeom prst="rect">
                <a:avLst/>
              </a:prstGeom>
              <a:blipFill>
                <a:blip r:embed="rId5"/>
                <a:stretch>
                  <a:fillRect l="-1096" t="-1724" b="-34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35F13EB-8F6C-8148-B69D-231916B5073A}"/>
              </a:ext>
            </a:extLst>
          </p:cNvPr>
          <p:cNvSpPr txBox="1"/>
          <p:nvPr/>
        </p:nvSpPr>
        <p:spPr>
          <a:xfrm>
            <a:off x="8770620" y="2523471"/>
            <a:ext cx="29206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22409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2C7F-46C1-8243-BFC9-892F7DF8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the Model – the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40C29-16FA-C446-B565-4DE224C62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5748130" cy="4124601"/>
              </a:xfrm>
            </p:spPr>
            <p:txBody>
              <a:bodyPr/>
              <a:lstStyle/>
              <a:p>
                <a:r>
                  <a:rPr lang="en-GB" dirty="0"/>
                  <a:t>Remember that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as an estimated probability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on input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parameterised by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/>
              </a:p>
              <a:p>
                <a:r>
                  <a:rPr lang="en-US" dirty="0"/>
                  <a:t>The objective of training is to find a parameter vector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 </a:t>
                </a:r>
                <a:r>
                  <a:rPr lang="en-US" dirty="0"/>
                  <a:t>so that the model estimates </a:t>
                </a:r>
                <a:r>
                  <a:rPr lang="en-US" i="1" dirty="0"/>
                  <a:t>high probabilities for positive data points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i="1" dirty="0"/>
                  <a:t>) and low probabilities for negative ones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i="1" dirty="0"/>
                  <a:t>)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040C29-16FA-C446-B565-4DE224C62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5748130" cy="4124601"/>
              </a:xfrm>
              <a:blipFill>
                <a:blip r:embed="rId2"/>
                <a:stretch>
                  <a:fillRect l="-1987" t="-2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C5B29AB-CA77-ED4A-BFA5-8B2B396E8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908" y="1825625"/>
            <a:ext cx="3722370" cy="37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888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5D44-ABF1-1547-96B9-C12BDAE3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3200" dirty="0"/>
                  <a:t>A new cost function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sz="3200" dirty="0"/>
                  <a:t> of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3200" dirty="0"/>
                  <a:t> defined as </a:t>
                </a:r>
                <a:r>
                  <a:rPr lang="en-GB" sz="3200" i="1" dirty="0"/>
                  <a:t>the average of individual costs</a:t>
                </a:r>
                <a:r>
                  <a:rPr lang="en-GB" sz="3200" dirty="0"/>
                  <a:t>, given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3200" dirty="0"/>
                  <a:t> training examples: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𝐶𝑜𝑠𝑡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40000"/>
                  </a:lnSpc>
                  <a:spcBef>
                    <a:spcPts val="1200"/>
                  </a:spcBef>
                  <a:buNone/>
                </a:pPr>
                <a:r>
                  <a:rPr lang="en-GB" dirty="0"/>
                  <a:t>    </a:t>
                </a:r>
                <a:r>
                  <a:rPr lang="en-GB" sz="3200" dirty="0"/>
                  <a:t>where each individual cost is defined as 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4854" b="-1207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029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5D44-ABF1-1547-96B9-C12BDAE3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Intuition of Cost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2942" y="1833634"/>
                <a:ext cx="6365111" cy="1182617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2942" y="1833634"/>
                <a:ext cx="6365111" cy="1182617"/>
              </a:xfrm>
              <a:blipFill>
                <a:blip r:embed="rId3"/>
                <a:stretch>
                  <a:fillRect t="-229787" b="-31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D2D9EB9-89A1-57DC-E63B-83D1BF41C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72" y="1690688"/>
            <a:ext cx="4387770" cy="43877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143DA7-09D8-52D0-910A-CCFCD7BF355E}"/>
                  </a:ext>
                </a:extLst>
              </p:cNvPr>
              <p:cNvSpPr txBox="1"/>
              <p:nvPr/>
            </p:nvSpPr>
            <p:spPr>
              <a:xfrm>
                <a:off x="5069711" y="3429000"/>
                <a:ext cx="6564298" cy="12656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func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grows very large </a:t>
                </a:r>
              </a:p>
              <a:p>
                <a:r>
                  <a:rPr lang="en-GB" sz="2400" dirty="0">
                    <a:solidFill>
                      <a:srgbClr val="C00000"/>
                    </a:solidFill>
                  </a:rPr>
                  <a:t>if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approaches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while it shrinks very small </a:t>
                </a:r>
              </a:p>
              <a:p>
                <a:r>
                  <a:rPr lang="en-GB" sz="240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approaches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 1.</a:t>
                </a:r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143DA7-09D8-52D0-910A-CCFCD7BF3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711" y="3429000"/>
                <a:ext cx="6564298" cy="1265667"/>
              </a:xfrm>
              <a:prstGeom prst="rect">
                <a:avLst/>
              </a:prstGeom>
              <a:blipFill>
                <a:blip r:embed="rId5"/>
                <a:stretch>
                  <a:fillRect l="-1547" t="-2000" r="-58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CD5960-345C-C322-3CA0-C640D9F04ABD}"/>
                  </a:ext>
                </a:extLst>
              </p:cNvPr>
              <p:cNvSpPr txBox="1"/>
              <p:nvPr/>
            </p:nvSpPr>
            <p:spPr>
              <a:xfrm>
                <a:off x="5069711" y="4942390"/>
                <a:ext cx="6565900" cy="1542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>
                    <a:solidFill>
                      <a:srgbClr val="C00000"/>
                    </a:solidFill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GB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GB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grows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 very large </a:t>
                </a:r>
              </a:p>
              <a:p>
                <a:r>
                  <a:rPr lang="en-GB" sz="240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approaches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while it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 </a:t>
                </a:r>
                <a:r>
                  <a:rPr lang="en-GB" sz="2400" dirty="0">
                    <a:solidFill>
                      <a:srgbClr val="C00000"/>
                    </a:solidFill>
                  </a:rPr>
                  <a:t>shrinks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 very small </a:t>
                </a:r>
              </a:p>
              <a:p>
                <a:r>
                  <a:rPr lang="en-GB" sz="2400" baseline="0" dirty="0">
                    <a:solidFill>
                      <a:srgbClr val="C0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solidFill>
                      <a:srgbClr val="C00000"/>
                    </a:solidFill>
                  </a:rPr>
                  <a:t> </a:t>
                </a:r>
                <a:r>
                  <a:rPr lang="en-GB" sz="2400" baseline="0" dirty="0">
                    <a:solidFill>
                      <a:srgbClr val="C00000"/>
                    </a:solidFill>
                  </a:rPr>
                  <a:t>approaches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CD5960-345C-C322-3CA0-C640D9F04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711" y="4942390"/>
                <a:ext cx="6565900" cy="1542666"/>
              </a:xfrm>
              <a:prstGeom prst="rect">
                <a:avLst/>
              </a:prstGeom>
              <a:blipFill>
                <a:blip r:embed="rId6"/>
                <a:stretch>
                  <a:fillRect l="-1544" t="-1639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5283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5D44-ABF1-1547-96B9-C12BDAE3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Function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ctr">
                  <a:buNone/>
                </a:pPr>
                <a:endParaRPr lang="en-GB" dirty="0"/>
              </a:p>
              <a:p>
                <a:pPr marL="0" indent="0">
                  <a:spcBef>
                    <a:spcPts val="1200"/>
                  </a:spcBef>
                  <a:buNone/>
                </a:pPr>
                <a:r>
                  <a:rPr lang="en-GB" dirty="0"/>
                  <a:t>  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GB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GB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GB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GB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GB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GB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GB" dirty="0"/>
              </a:p>
              <a:p>
                <a:pPr marL="0" indent="0">
                  <a:lnSpc>
                    <a:spcPct val="100000"/>
                  </a:lnSpc>
                  <a:spcBef>
                    <a:spcPts val="2200"/>
                  </a:spcBef>
                  <a:spcAft>
                    <a:spcPts val="1200"/>
                  </a:spcAft>
                  <a:buNone/>
                </a:pPr>
                <a:r>
                  <a:rPr lang="en-GB" sz="3200" dirty="0"/>
                  <a:t>We can simplify the cost function into a more compact form because we always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GB" sz="3200" dirty="0"/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GB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32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𝐶𝑜𝑠𝑡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−(1−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    so that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GB" dirty="0"/>
                  <a:t>, and</a:t>
                </a:r>
              </a:p>
              <a:p>
                <a:pPr marL="0" indent="0">
                  <a:buNone/>
                </a:pPr>
                <a:r>
                  <a:rPr lang="en-GB" dirty="0"/>
                  <a:t> 	 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𝐶𝑜𝑠𝑡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70468" b="-40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221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F75D44-ABF1-1547-96B9-C12BDAE375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Choosing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to Minimise Cost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8F75D44-ABF1-1547-96B9-C12BDAE37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dirty="0"/>
                  <a:t>We have defined a cost function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dirty="0"/>
                  <a:t>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𝐶𝑜𝑠𝑡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+(1−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 algn="ctr">
                  <a:spcBef>
                    <a:spcPts val="1200"/>
                  </a:spcBef>
                  <a:buNone/>
                </a:pPr>
                <a:endParaRPr lang="en-GB" dirty="0"/>
              </a:p>
              <a:p>
                <a:r>
                  <a:rPr lang="en-GB" dirty="0"/>
                  <a:t>We can fit parameters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/>
                  <a:t> by minimising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    so that given a new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we can make a prediction using the logistic regression model:</a:t>
                </a:r>
              </a:p>
              <a:p>
                <a:pPr marL="0" indent="0">
                  <a:buNone/>
                </a:pPr>
                <a:r>
                  <a:rPr lang="en-GB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=1|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interpreted as </a:t>
                </a:r>
                <a:r>
                  <a:rPr lang="en-US" dirty="0"/>
                  <a:t>probability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					given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	parameterized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79FC4F-09CC-1E47-93E2-AA656C6FB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3" t="-190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1477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AD395-5893-A641-A362-098FB196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9E3D5E-B3A4-4843-8FA5-5EACFF4A0A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 very widely used algorithm called gradient descent to find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so that: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Step 1. Start with some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e.g.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=(0, 0, ⋯, 0)</m:t>
                    </m:r>
                  </m:oMath>
                </a14:m>
                <a:r>
                  <a:rPr lang="en-US" dirty="0"/>
                  <a:t> with every parameter set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Step 2. Repeat changing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to reduce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each iteration until convergence: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 1, 2, …,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change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as follows:</a:t>
                </a:r>
                <a:endParaRPr lang="en-GB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 :=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GB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ctrlP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GB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  <m: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GB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  <m:r>
                          <a:rPr lang="en-GB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d>
                              <m:dPr>
                                <m:ctrlP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</m:e>
                    </m:nary>
                  </m:oMath>
                </a14:m>
                <a:endParaRPr lang="en-GB" dirty="0">
                  <a:ea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i="1" dirty="0"/>
                  <a:t>learning rate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represents the </a:t>
                </a:r>
                <a:r>
                  <a:rPr lang="en-US" i="1" dirty="0"/>
                  <a:t>gradient </a:t>
                </a:r>
                <a:r>
                  <a:rPr lang="en-US" dirty="0"/>
                  <a:t>of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, which is calculated as the partial derivative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respect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Steps 1 and 2 appear identical to linear regression but 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is defined differently: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for linear regression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lang="en-US" dirty="0"/>
                  <a:t> for logistic regression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9E3D5E-B3A4-4843-8FA5-5EACFF4A0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83" t="-2632" r="-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631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4EEE-B9E3-C346-B4DC-8166F0E0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6B40C-BC71-0646-AE58-3ADC34E2D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moved onto logistical regression for classification from linear regression</a:t>
            </a:r>
          </a:p>
          <a:p>
            <a:r>
              <a:rPr lang="en-US" dirty="0"/>
              <a:t>We have covered a set of fundamental concepts and techniques of machine learning, e.g. linear classification, gradient descent,  Sigmoid function </a:t>
            </a:r>
            <a:r>
              <a:rPr lang="en-US"/>
              <a:t>as an </a:t>
            </a:r>
            <a:r>
              <a:rPr lang="en-US" dirty="0"/>
              <a:t>activation function, decision boundary, and how to fit a model and make predictions using a fitted model.</a:t>
            </a:r>
          </a:p>
          <a:p>
            <a:r>
              <a:rPr lang="en-US" dirty="0"/>
              <a:t>These concepts and techniques are closely related to the other machine learning algorithms that this module will cover.</a:t>
            </a:r>
          </a:p>
        </p:txBody>
      </p:sp>
    </p:spTree>
    <p:extLst>
      <p:ext uri="{BB962C8B-B14F-4D97-AF65-F5344CB8AC3E}">
        <p14:creationId xmlns:p14="http://schemas.microsoft.com/office/powerpoint/2010/main" val="2680018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AD33F-B269-944F-817A-08A00CD5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A8CC-A8E4-C048-B555-7A78EB1A9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workflow</a:t>
            </a:r>
          </a:p>
          <a:p>
            <a:r>
              <a:rPr lang="en-US" dirty="0"/>
              <a:t>Performance evaluation </a:t>
            </a:r>
          </a:p>
          <a:p>
            <a:r>
              <a:rPr lang="en-US" dirty="0"/>
              <a:t>Key issues</a:t>
            </a:r>
          </a:p>
          <a:p>
            <a:r>
              <a:rPr lang="en-US" dirty="0"/>
              <a:t>These additional aspects of machine learning will be applicable to all the other ML algorithms the module covers</a:t>
            </a:r>
          </a:p>
          <a:p>
            <a:r>
              <a:rPr lang="en-US" dirty="0"/>
              <a:t>The first three lectures have laid the foundations for the whole module enabling students to start group projects from Week 4</a:t>
            </a:r>
          </a:p>
        </p:txBody>
      </p:sp>
    </p:spTree>
    <p:extLst>
      <p:ext uri="{BB962C8B-B14F-4D97-AF65-F5344CB8AC3E}">
        <p14:creationId xmlns:p14="http://schemas.microsoft.com/office/powerpoint/2010/main" val="4230920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4441-7760-0447-88CB-A6F61B839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0CD1-F08C-164A-9961-FD939DA78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4. </a:t>
            </a:r>
            <a:r>
              <a:rPr lang="en-US"/>
              <a:t>Training Models in Hands-on ML</a:t>
            </a:r>
          </a:p>
        </p:txBody>
      </p:sp>
    </p:spTree>
    <p:extLst>
      <p:ext uri="{BB962C8B-B14F-4D97-AF65-F5344CB8AC3E}">
        <p14:creationId xmlns:p14="http://schemas.microsoft.com/office/powerpoint/2010/main" val="977560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E261-A68D-A247-9CB6-81E7FC68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91D85-1B5C-AC42-B1D9-812945F2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Logistic Regression using Python (</a:t>
            </a:r>
            <a:r>
              <a:rPr lang="en-GB" dirty="0" err="1"/>
              <a:t>scikit</a:t>
            </a:r>
            <a:r>
              <a:rPr lang="en-GB" dirty="0"/>
              <a:t>-learn) by Michael </a:t>
            </a:r>
            <a:r>
              <a:rPr lang="en-GB" dirty="0" err="1"/>
              <a:t>Galarnyk</a:t>
            </a:r>
            <a:r>
              <a:rPr lang="en-GB" dirty="0"/>
              <a:t> on towards data science</a:t>
            </a:r>
          </a:p>
          <a:p>
            <a:pPr lvl="1"/>
            <a:r>
              <a:rPr lang="en-GB" dirty="0">
                <a:hlinkClick r:id="rId2"/>
              </a:rPr>
              <a:t>https://towardsdatascience.com/logistic-regression-using-python-sklearn-numpy-mnist-handwriting-recognition-matplotlib-a6b31e2b166a</a:t>
            </a:r>
            <a:endParaRPr lang="en-GB" dirty="0"/>
          </a:p>
          <a:p>
            <a:pPr lvl="1"/>
            <a:r>
              <a:rPr lang="en-GB" dirty="0"/>
              <a:t>This is a tutorial on using logistic regression on two datasets, the toy digits dataset and the MNIST dataset. The tutorial has a good explanation about the four steps a typical classifier in </a:t>
            </a:r>
            <a:r>
              <a:rPr lang="en-GB" dirty="0" err="1"/>
              <a:t>sklearn</a:t>
            </a:r>
            <a:r>
              <a:rPr lang="en-GB" dirty="0"/>
              <a:t> takes with the </a:t>
            </a:r>
            <a:r>
              <a:rPr lang="en-GB" dirty="0" err="1"/>
              <a:t>Jupyter</a:t>
            </a:r>
            <a:r>
              <a:rPr lang="en-GB" dirty="0"/>
              <a:t> notebook code provided on GitHub that can be saved raw.</a:t>
            </a:r>
          </a:p>
        </p:txBody>
      </p:sp>
    </p:spTree>
    <p:extLst>
      <p:ext uri="{BB962C8B-B14F-4D97-AF65-F5344CB8AC3E}">
        <p14:creationId xmlns:p14="http://schemas.microsoft.com/office/powerpoint/2010/main" val="2488443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38590</TotalTime>
  <Words>2658</Words>
  <Application>Microsoft Macintosh PowerPoint</Application>
  <PresentationFormat>Widescreen</PresentationFormat>
  <Paragraphs>232</Paragraphs>
  <Slides>27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Cambria Math</vt:lpstr>
      <vt:lpstr>Calibri</vt:lpstr>
      <vt:lpstr>Office Theme</vt:lpstr>
      <vt:lpstr>Logistic Regression/Classification</vt:lpstr>
      <vt:lpstr>In this week’s lecture</vt:lpstr>
      <vt:lpstr>Classification versus Regression</vt:lpstr>
      <vt:lpstr>Is It Possible to Use Linear Regression for Classification?</vt:lpstr>
      <vt:lpstr>Using Linear Regression for Classification Is Not a Great Idea – One Problem</vt:lpstr>
      <vt:lpstr>Using Linear Regression for Classification Is Not a Great Idea – Another Problem</vt:lpstr>
      <vt:lpstr>Logistic Regression Model – Hypothesis Representation</vt:lpstr>
      <vt:lpstr>Logistic Regression Model – Hypothesis Representation</vt:lpstr>
      <vt:lpstr>How Does e^(-θ^T x) Work?</vt:lpstr>
      <vt:lpstr>Interpretation of Model Output</vt:lpstr>
      <vt:lpstr>Logistic Regression – An Example</vt:lpstr>
      <vt:lpstr>Logistic Regression – An Example</vt:lpstr>
      <vt:lpstr>Logistic Regression – Decision Boundary</vt:lpstr>
      <vt:lpstr>How to Find the Decision Boundary?</vt:lpstr>
      <vt:lpstr>End of Week 2</vt:lpstr>
      <vt:lpstr>Logistic Regression – Decision Boundary</vt:lpstr>
      <vt:lpstr>Logistic Regression – Fitting the Model</vt:lpstr>
      <vt:lpstr>Fitting the Model – the objective</vt:lpstr>
      <vt:lpstr>Cost Function for Logistic Regression</vt:lpstr>
      <vt:lpstr>Intuition of Cost Function</vt:lpstr>
      <vt:lpstr>Cost Function for Logistic Regression</vt:lpstr>
      <vt:lpstr>Choosing θ to Minimise Cost Function</vt:lpstr>
      <vt:lpstr>Gradient Descent for Logistic Regression</vt:lpstr>
      <vt:lpstr>Summary</vt:lpstr>
      <vt:lpstr>Next Week</vt:lpstr>
      <vt:lpstr>References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 Hong</dc:creator>
  <cp:lastModifiedBy>Jun Hong</cp:lastModifiedBy>
  <cp:revision>121</cp:revision>
  <dcterms:created xsi:type="dcterms:W3CDTF">2021-03-22T16:57:30Z</dcterms:created>
  <dcterms:modified xsi:type="dcterms:W3CDTF">2025-02-11T20:45:10Z</dcterms:modified>
</cp:coreProperties>
</file>