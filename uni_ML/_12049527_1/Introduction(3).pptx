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99" r:id="rId3"/>
    <p:sldId id="341" r:id="rId4"/>
    <p:sldId id="269" r:id="rId5"/>
    <p:sldId id="270" r:id="rId6"/>
    <p:sldId id="320" r:id="rId7"/>
    <p:sldId id="346" r:id="rId8"/>
    <p:sldId id="348" r:id="rId9"/>
    <p:sldId id="349" r:id="rId10"/>
    <p:sldId id="347" r:id="rId11"/>
    <p:sldId id="35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C7CDA9A-B3DF-574D-806B-02AFD78A13BB}">
          <p14:sldIdLst>
            <p14:sldId id="256"/>
            <p14:sldId id="299"/>
            <p14:sldId id="341"/>
            <p14:sldId id="269"/>
            <p14:sldId id="270"/>
            <p14:sldId id="320"/>
            <p14:sldId id="346"/>
            <p14:sldId id="348"/>
            <p14:sldId id="349"/>
            <p14:sldId id="347"/>
            <p14:sldId id="350"/>
          </p14:sldIdLst>
        </p14:section>
        <p14:section name="Untitled Section" id="{4F3E8A86-7600-0243-B820-1FAE8595FA4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87823" autoAdjust="0"/>
  </p:normalViewPr>
  <p:slideViewPr>
    <p:cSldViewPr snapToGrid="0" snapToObjects="1">
      <p:cViewPr varScale="1">
        <p:scale>
          <a:sx n="112" d="100"/>
          <a:sy n="112" d="100"/>
        </p:scale>
        <p:origin x="21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3" d="100"/>
          <a:sy n="73" d="100"/>
        </p:scale>
        <p:origin x="3680" y="19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 Hong" userId="fae4f9bd-26d5-4760-9ac2-6f75f350beba" providerId="ADAL" clId="{29E9D77D-47CB-7646-8D56-671F1D3580D8}"/>
    <pc:docChg chg="undo custSel delSld modSld modSection">
      <pc:chgData name="Jun Hong" userId="fae4f9bd-26d5-4760-9ac2-6f75f350beba" providerId="ADAL" clId="{29E9D77D-47CB-7646-8D56-671F1D3580D8}" dt="2024-01-29T12:38:38.802" v="532" actId="20577"/>
      <pc:docMkLst>
        <pc:docMk/>
      </pc:docMkLst>
      <pc:sldChg chg="modSp del mod">
        <pc:chgData name="Jun Hong" userId="fae4f9bd-26d5-4760-9ac2-6f75f350beba" providerId="ADAL" clId="{29E9D77D-47CB-7646-8D56-671F1D3580D8}" dt="2024-01-15T11:14:19.450" v="134" actId="2696"/>
        <pc:sldMkLst>
          <pc:docMk/>
          <pc:sldMk cId="3809236106" sldId="258"/>
        </pc:sldMkLst>
      </pc:sldChg>
      <pc:sldChg chg="modSp mod">
        <pc:chgData name="Jun Hong" userId="fae4f9bd-26d5-4760-9ac2-6f75f350beba" providerId="ADAL" clId="{29E9D77D-47CB-7646-8D56-671F1D3580D8}" dt="2024-01-29T12:38:38.802" v="532" actId="20577"/>
        <pc:sldMkLst>
          <pc:docMk/>
          <pc:sldMk cId="3698305692" sldId="270"/>
        </pc:sldMkLst>
      </pc:sldChg>
      <pc:sldChg chg="modSp mod">
        <pc:chgData name="Jun Hong" userId="fae4f9bd-26d5-4760-9ac2-6f75f350beba" providerId="ADAL" clId="{29E9D77D-47CB-7646-8D56-671F1D3580D8}" dt="2024-01-24T17:29:53.527" v="369" actId="20577"/>
        <pc:sldMkLst>
          <pc:docMk/>
          <pc:sldMk cId="221033782" sldId="299"/>
        </pc:sldMkLst>
      </pc:sldChg>
      <pc:sldChg chg="modSp mod">
        <pc:chgData name="Jun Hong" userId="fae4f9bd-26d5-4760-9ac2-6f75f350beba" providerId="ADAL" clId="{29E9D77D-47CB-7646-8D56-671F1D3580D8}" dt="2024-01-15T11:11:27.774" v="58" actId="114"/>
        <pc:sldMkLst>
          <pc:docMk/>
          <pc:sldMk cId="1855028650" sldId="320"/>
        </pc:sldMkLst>
      </pc:sldChg>
      <pc:sldChg chg="modSp mod modNotesTx">
        <pc:chgData name="Jun Hong" userId="fae4f9bd-26d5-4760-9ac2-6f75f350beba" providerId="ADAL" clId="{29E9D77D-47CB-7646-8D56-671F1D3580D8}" dt="2024-01-29T12:37:15.854" v="521" actId="20577"/>
        <pc:sldMkLst>
          <pc:docMk/>
          <pc:sldMk cId="193771330" sldId="341"/>
        </pc:sldMkLst>
      </pc:sldChg>
      <pc:sldChg chg="modSp mod">
        <pc:chgData name="Jun Hong" userId="fae4f9bd-26d5-4760-9ac2-6f75f350beba" providerId="ADAL" clId="{29E9D77D-47CB-7646-8D56-671F1D3580D8}" dt="2024-01-15T11:31:08.831" v="257" actId="27636"/>
        <pc:sldMkLst>
          <pc:docMk/>
          <pc:sldMk cId="41305185" sldId="347"/>
        </pc:sldMkLst>
      </pc:sldChg>
      <pc:sldChg chg="modSp mod modNotesTx">
        <pc:chgData name="Jun Hong" userId="fae4f9bd-26d5-4760-9ac2-6f75f350beba" providerId="ADAL" clId="{29E9D77D-47CB-7646-8D56-671F1D3580D8}" dt="2024-01-15T11:23:58.210" v="206"/>
        <pc:sldMkLst>
          <pc:docMk/>
          <pc:sldMk cId="2596449589" sldId="348"/>
        </pc:sldMkLst>
      </pc:sldChg>
    </pc:docChg>
  </pc:docChgLst>
  <pc:docChgLst>
    <pc:chgData name="Jun Hong" userId="fae4f9bd-26d5-4760-9ac2-6f75f350beba" providerId="ADAL" clId="{6A34EA45-9CC0-EB4A-8536-A800AF64232A}"/>
    <pc:docChg chg="delSld modSld modSection">
      <pc:chgData name="Jun Hong" userId="fae4f9bd-26d5-4760-9ac2-6f75f350beba" providerId="ADAL" clId="{6A34EA45-9CC0-EB4A-8536-A800AF64232A}" dt="2023-12-14T15:32:16.939" v="113" actId="20577"/>
      <pc:docMkLst>
        <pc:docMk/>
      </pc:docMkLst>
      <pc:sldChg chg="modSp mod">
        <pc:chgData name="Jun Hong" userId="fae4f9bd-26d5-4760-9ac2-6f75f350beba" providerId="ADAL" clId="{6A34EA45-9CC0-EB4A-8536-A800AF64232A}" dt="2023-12-14T15:29:47.822" v="106" actId="20577"/>
        <pc:sldMkLst>
          <pc:docMk/>
          <pc:sldMk cId="221033782" sldId="299"/>
        </pc:sldMkLst>
      </pc:sldChg>
      <pc:sldChg chg="modSp mod">
        <pc:chgData name="Jun Hong" userId="fae4f9bd-26d5-4760-9ac2-6f75f350beba" providerId="ADAL" clId="{6A34EA45-9CC0-EB4A-8536-A800AF64232A}" dt="2023-12-14T15:32:16.939" v="113" actId="20577"/>
        <pc:sldMkLst>
          <pc:docMk/>
          <pc:sldMk cId="1855028650" sldId="320"/>
        </pc:sldMkLst>
      </pc:sldChg>
      <pc:sldChg chg="modSp mod">
        <pc:chgData name="Jun Hong" userId="fae4f9bd-26d5-4760-9ac2-6f75f350beba" providerId="ADAL" clId="{6A34EA45-9CC0-EB4A-8536-A800AF64232A}" dt="2023-12-14T15:30:26.257" v="108" actId="20577"/>
        <pc:sldMkLst>
          <pc:docMk/>
          <pc:sldMk cId="193771330" sldId="341"/>
        </pc:sldMkLst>
      </pc:sldChg>
      <pc:sldChg chg="modSp del mod">
        <pc:chgData name="Jun Hong" userId="fae4f9bd-26d5-4760-9ac2-6f75f350beba" providerId="ADAL" clId="{6A34EA45-9CC0-EB4A-8536-A800AF64232A}" dt="2023-12-14T15:28:42.069" v="78" actId="2696"/>
        <pc:sldMkLst>
          <pc:docMk/>
          <pc:sldMk cId="2301821273" sldId="351"/>
        </pc:sldMkLst>
      </pc:sldChg>
    </pc:docChg>
  </pc:docChgLst>
  <pc:docChgLst>
    <pc:chgData name="Jun Hong" userId="fae4f9bd-26d5-4760-9ac2-6f75f350beba" providerId="ADAL" clId="{FDAFAA3D-8603-6041-8FFF-3B4BF67F4600}"/>
    <pc:docChg chg="custSel modSld">
      <pc:chgData name="Jun Hong" userId="fae4f9bd-26d5-4760-9ac2-6f75f350beba" providerId="ADAL" clId="{FDAFAA3D-8603-6041-8FFF-3B4BF67F4600}" dt="2024-04-19T09:44:54.256" v="259" actId="20577"/>
      <pc:docMkLst>
        <pc:docMk/>
      </pc:docMkLst>
      <pc:sldChg chg="modSp mod">
        <pc:chgData name="Jun Hong" userId="fae4f9bd-26d5-4760-9ac2-6f75f350beba" providerId="ADAL" clId="{FDAFAA3D-8603-6041-8FFF-3B4BF67F4600}" dt="2024-04-19T09:44:54.256" v="259" actId="20577"/>
        <pc:sldMkLst>
          <pc:docMk/>
          <pc:sldMk cId="555084524" sldId="346"/>
        </pc:sldMkLst>
      </pc:sldChg>
    </pc:docChg>
  </pc:docChgLst>
  <pc:docChgLst>
    <pc:chgData name="Jun Hong" userId="fae4f9bd-26d5-4760-9ac2-6f75f350beba" providerId="ADAL" clId="{0061DB61-2457-0A4A-8B26-653136E13664}"/>
    <pc:docChg chg="modSld">
      <pc:chgData name="Jun Hong" userId="fae4f9bd-26d5-4760-9ac2-6f75f350beba" providerId="ADAL" clId="{0061DB61-2457-0A4A-8B26-653136E13664}" dt="2025-01-30T09:45:52.506" v="287" actId="20577"/>
      <pc:docMkLst>
        <pc:docMk/>
      </pc:docMkLst>
      <pc:sldChg chg="modSp mod">
        <pc:chgData name="Jun Hong" userId="fae4f9bd-26d5-4760-9ac2-6f75f350beba" providerId="ADAL" clId="{0061DB61-2457-0A4A-8B26-653136E13664}" dt="2025-01-30T09:45:52.506" v="287" actId="20577"/>
        <pc:sldMkLst>
          <pc:docMk/>
          <pc:sldMk cId="221033782" sldId="299"/>
        </pc:sldMkLst>
        <pc:spChg chg="mod">
          <ac:chgData name="Jun Hong" userId="fae4f9bd-26d5-4760-9ac2-6f75f350beba" providerId="ADAL" clId="{0061DB61-2457-0A4A-8B26-653136E13664}" dt="2025-01-30T09:45:52.506" v="287" actId="20577"/>
          <ac:spMkLst>
            <pc:docMk/>
            <pc:sldMk cId="221033782" sldId="299"/>
            <ac:spMk id="4" creationId="{00000000-0000-0000-0000-000000000000}"/>
          </ac:spMkLst>
        </pc:spChg>
      </pc:sldChg>
      <pc:sldChg chg="addSp modSp mod">
        <pc:chgData name="Jun Hong" userId="fae4f9bd-26d5-4760-9ac2-6f75f350beba" providerId="ADAL" clId="{0061DB61-2457-0A4A-8B26-653136E13664}" dt="2025-01-29T15:54:43.060" v="205" actId="20577"/>
        <pc:sldMkLst>
          <pc:docMk/>
          <pc:sldMk cId="1855028650" sldId="320"/>
        </pc:sldMkLst>
        <pc:spChg chg="mod">
          <ac:chgData name="Jun Hong" userId="fae4f9bd-26d5-4760-9ac2-6f75f350beba" providerId="ADAL" clId="{0061DB61-2457-0A4A-8B26-653136E13664}" dt="2025-01-29T15:54:43.060" v="205" actId="20577"/>
          <ac:spMkLst>
            <pc:docMk/>
            <pc:sldMk cId="1855028650" sldId="320"/>
            <ac:spMk id="5" creationId="{00000000-0000-0000-0000-000000000000}"/>
          </ac:spMkLst>
        </pc:spChg>
        <pc:spChg chg="add mod">
          <ac:chgData name="Jun Hong" userId="fae4f9bd-26d5-4760-9ac2-6f75f350beba" providerId="ADAL" clId="{0061DB61-2457-0A4A-8B26-653136E13664}" dt="2025-01-29T15:53:26.986" v="151" actId="207"/>
          <ac:spMkLst>
            <pc:docMk/>
            <pc:sldMk cId="1855028650" sldId="320"/>
            <ac:spMk id="6" creationId="{D50168B4-59F2-C2E0-5E32-80ED7AA80C2A}"/>
          </ac:spMkLst>
        </pc:spChg>
      </pc:sldChg>
      <pc:sldChg chg="addSp modSp mod modNotesTx">
        <pc:chgData name="Jun Hong" userId="fae4f9bd-26d5-4760-9ac2-6f75f350beba" providerId="ADAL" clId="{0061DB61-2457-0A4A-8B26-653136E13664}" dt="2025-01-29T15:51:46.200" v="146" actId="20577"/>
        <pc:sldMkLst>
          <pc:docMk/>
          <pc:sldMk cId="193771330" sldId="341"/>
        </pc:sldMkLst>
        <pc:spChg chg="add mod">
          <ac:chgData name="Jun Hong" userId="fae4f9bd-26d5-4760-9ac2-6f75f350beba" providerId="ADAL" clId="{0061DB61-2457-0A4A-8B26-653136E13664}" dt="2025-01-29T15:51:25.247" v="27" actId="20577"/>
          <ac:spMkLst>
            <pc:docMk/>
            <pc:sldMk cId="193771330" sldId="341"/>
            <ac:spMk id="4" creationId="{84E554D2-59B8-5049-D818-9F9727B8922C}"/>
          </ac:spMkLst>
        </pc:spChg>
      </pc:sldChg>
    </pc:docChg>
  </pc:docChgLst>
  <pc:docChgLst>
    <pc:chgData name="Jun Hong" userId="fae4f9bd-26d5-4760-9ac2-6f75f350beba" providerId="ADAL" clId="{900B3ED2-84C2-124C-9220-AD3B1B21F0CF}"/>
    <pc:docChg chg="custSel modSld">
      <pc:chgData name="Jun Hong" userId="fae4f9bd-26d5-4760-9ac2-6f75f350beba" providerId="ADAL" clId="{900B3ED2-84C2-124C-9220-AD3B1B21F0CF}" dt="2024-12-19T10:36:44.366" v="292" actId="20577"/>
      <pc:docMkLst>
        <pc:docMk/>
      </pc:docMkLst>
      <pc:sldChg chg="modSp mod">
        <pc:chgData name="Jun Hong" userId="fae4f9bd-26d5-4760-9ac2-6f75f350beba" providerId="ADAL" clId="{900B3ED2-84C2-124C-9220-AD3B1B21F0CF}" dt="2024-12-11T14:29:22.575" v="130" actId="20577"/>
        <pc:sldMkLst>
          <pc:docMk/>
          <pc:sldMk cId="221033782" sldId="299"/>
        </pc:sldMkLst>
        <pc:spChg chg="mod">
          <ac:chgData name="Jun Hong" userId="fae4f9bd-26d5-4760-9ac2-6f75f350beba" providerId="ADAL" clId="{900B3ED2-84C2-124C-9220-AD3B1B21F0CF}" dt="2024-12-11T14:29:22.575" v="130" actId="20577"/>
          <ac:spMkLst>
            <pc:docMk/>
            <pc:sldMk cId="221033782" sldId="299"/>
            <ac:spMk id="4" creationId="{00000000-0000-0000-0000-000000000000}"/>
          </ac:spMkLst>
        </pc:spChg>
      </pc:sldChg>
      <pc:sldChg chg="modSp mod">
        <pc:chgData name="Jun Hong" userId="fae4f9bd-26d5-4760-9ac2-6f75f350beba" providerId="ADAL" clId="{900B3ED2-84C2-124C-9220-AD3B1B21F0CF}" dt="2024-12-11T14:47:53.754" v="160" actId="20577"/>
        <pc:sldMkLst>
          <pc:docMk/>
          <pc:sldMk cId="1855028650" sldId="320"/>
        </pc:sldMkLst>
        <pc:spChg chg="mod">
          <ac:chgData name="Jun Hong" userId="fae4f9bd-26d5-4760-9ac2-6f75f350beba" providerId="ADAL" clId="{900B3ED2-84C2-124C-9220-AD3B1B21F0CF}" dt="2024-12-11T14:47:53.754" v="160" actId="20577"/>
          <ac:spMkLst>
            <pc:docMk/>
            <pc:sldMk cId="1855028650" sldId="320"/>
            <ac:spMk id="5" creationId="{00000000-0000-0000-0000-000000000000}"/>
          </ac:spMkLst>
        </pc:spChg>
      </pc:sldChg>
      <pc:sldChg chg="modNotesTx">
        <pc:chgData name="Jun Hong" userId="fae4f9bd-26d5-4760-9ac2-6f75f350beba" providerId="ADAL" clId="{900B3ED2-84C2-124C-9220-AD3B1B21F0CF}" dt="2024-12-17T14:25:11.886" v="250" actId="20577"/>
        <pc:sldMkLst>
          <pc:docMk/>
          <pc:sldMk cId="41305185" sldId="347"/>
        </pc:sldMkLst>
      </pc:sldChg>
      <pc:sldChg chg="modSp mod modNotesTx">
        <pc:chgData name="Jun Hong" userId="fae4f9bd-26d5-4760-9ac2-6f75f350beba" providerId="ADAL" clId="{900B3ED2-84C2-124C-9220-AD3B1B21F0CF}" dt="2024-12-19T10:36:44.366" v="292" actId="20577"/>
        <pc:sldMkLst>
          <pc:docMk/>
          <pc:sldMk cId="2596449589" sldId="348"/>
        </pc:sldMkLst>
        <pc:spChg chg="mod">
          <ac:chgData name="Jun Hong" userId="fae4f9bd-26d5-4760-9ac2-6f75f350beba" providerId="ADAL" clId="{900B3ED2-84C2-124C-9220-AD3B1B21F0CF}" dt="2024-12-17T14:17:23.929" v="248" actId="27636"/>
          <ac:spMkLst>
            <pc:docMk/>
            <pc:sldMk cId="2596449589" sldId="348"/>
            <ac:spMk id="3" creationId="{1D88E808-C6E0-A04D-93AD-A74B3A6B07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7B951-37BA-5A44-B9C0-F7341471BED9}" type="datetimeFigureOut">
              <a:rPr lang="en-US" smtClean="0"/>
              <a:t>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FD9A8-CF8D-2A4C-99B9-54BD37A345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493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255D0-AF87-FC40-8E1F-62751C36B7ED}" type="datetimeFigureOut">
              <a:rPr lang="en-US" smtClean="0"/>
              <a:t>1/30/25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EF8E3-AE7C-2543-A0B0-1CC8CC09B7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488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935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887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37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00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870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045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file system on the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jupyterhub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server is not connected to anywhere else:</a:t>
            </a:r>
          </a:p>
          <a:p>
            <a:pPr lvl="1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need to upload the weekly practical notebooks to work on.</a:t>
            </a:r>
          </a:p>
          <a:p>
            <a:pPr lvl="1"/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should save your work and use the </a:t>
            </a:r>
            <a:r>
              <a:rPr lang="en-GB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jupyterhub</a:t>
            </a:r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interface to download it at the end of each session.</a:t>
            </a:r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remember to logout at the end of each session.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03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u="none" strike="noStrike">
                <a:solidFill>
                  <a:srgbClr val="1F2328"/>
                </a:solidFill>
                <a:effectLst/>
                <a:latin typeface="-apple-system"/>
              </a:rPr>
              <a:t>The GitHub </a:t>
            </a: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source contains a series of </a:t>
            </a:r>
            <a:r>
              <a:rPr lang="en-GB" b="0" i="0" u="none" strike="noStrike" dirty="0" err="1">
                <a:solidFill>
                  <a:srgbClr val="1F2328"/>
                </a:solidFill>
                <a:effectLst/>
                <a:latin typeface="-apple-system"/>
              </a:rPr>
              <a:t>Jupyter</a:t>
            </a: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 notebooks that walk you through the fundamentals of Machine Learning and Deep Learning in Python using Scikit-Learn, </a:t>
            </a:r>
            <a:r>
              <a:rPr lang="en-GB" b="0" i="0" u="none" strike="noStrike" dirty="0" err="1">
                <a:solidFill>
                  <a:srgbClr val="1F2328"/>
                </a:solidFill>
                <a:effectLst/>
                <a:latin typeface="-apple-system"/>
              </a:rPr>
              <a:t>Keras</a:t>
            </a:r>
            <a:r>
              <a:rPr lang="en-GB" b="0" i="0" u="none" strike="noStrike" dirty="0">
                <a:solidFill>
                  <a:srgbClr val="1F2328"/>
                </a:solidFill>
                <a:effectLst/>
                <a:latin typeface="-apple-system"/>
              </a:rPr>
              <a:t> and TensorFlow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036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EF8E3-AE7C-2543-A0B0-1CC8CC09B7E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5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077BC-FB1B-114F-B361-14674064CE8F}" type="datetime1">
              <a:rPr lang="en-GB" smtClean="0"/>
              <a:t>30/01/2025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76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222E-B33D-5940-9A89-920AB4590494}" type="datetime1">
              <a:rPr lang="en-GB" smtClean="0"/>
              <a:t>30/01/2025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841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96BC-544F-2049-9E3B-767A550C844F}" type="datetime1">
              <a:rPr lang="en-GB" smtClean="0"/>
              <a:t>30/01/2025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01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7045F-56A2-4641-AC66-4529374FC55E}" type="datetime1">
              <a:rPr lang="en-GB" smtClean="0"/>
              <a:t>30/01/2025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78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CA782-A35A-0C4D-BD83-25F164410AA4}" type="datetime1">
              <a:rPr lang="en-GB" smtClean="0"/>
              <a:t>30/01/2025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7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C076-615C-0E48-8B54-1BC9A5E4EE87}" type="datetime1">
              <a:rPr lang="en-GB" smtClean="0"/>
              <a:t>30/01/2025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5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2245F-A54C-5A4C-A49E-FD97E77E037C}" type="datetime1">
              <a:rPr lang="en-GB" smtClean="0"/>
              <a:t>30/01/2025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4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D2339-748B-1C4E-9123-F6D786D9B798}" type="datetime1">
              <a:rPr lang="en-GB" smtClean="0"/>
              <a:t>30/01/2025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41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2AE1-9E8C-6146-B7CD-BA3816641A30}" type="datetime1">
              <a:rPr lang="en-GB" smtClean="0"/>
              <a:t>30/01/2025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77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25321-E31A-F348-BA52-59EAD33285A0}" type="datetime1">
              <a:rPr lang="en-GB" smtClean="0"/>
              <a:t>30/01/2025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4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29D41-21A8-4145-BAFD-F9666A96A8DF}" type="datetime1">
              <a:rPr lang="en-GB" smtClean="0"/>
              <a:t>30/01/2025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845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F2803-B7AC-F34B-800B-49B4ED78685D}" type="datetime1">
              <a:rPr lang="en-GB" smtClean="0"/>
              <a:t>30/01/2025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1ADD9-AF92-934B-9565-8A03080F81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8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Jun.Hong@uwe.ac.u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muhammad40.khan@uwe.ac.uk" TargetMode="External"/><Relationship Id="rId4" Type="http://schemas.openxmlformats.org/officeDocument/2006/relationships/hyperlink" Target="mailto:Nathan.Duran@uwe.ac.u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sctcloud.uwe.ac.uk:22000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l.talis.com/3/uwe/lists/41208907-AE7E-D7A4-2CAF-DB82ACB2F623.html?lang=en-GB&amp;login=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geron/handson-ml2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eplearningbook.org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neuralnetworksanddeeplearning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nielsen/neural-networks-and-deep-learning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 (UFCFAS-15-2)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257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Introduction to Module Team</a:t>
            </a:r>
          </a:p>
        </p:txBody>
      </p:sp>
      <p:sp>
        <p:nvSpPr>
          <p:cNvPr id="4" name="Vertical Text Placeholder 2"/>
          <p:cNvSpPr txBox="1">
            <a:spLocks/>
          </p:cNvSpPr>
          <p:nvPr/>
        </p:nvSpPr>
        <p:spPr>
          <a:xfrm>
            <a:off x="609600" y="1570038"/>
            <a:ext cx="8229600" cy="4708525"/>
          </a:xfrm>
          <a:prstGeom prst="rect">
            <a:avLst/>
          </a:prstGeom>
        </p:spPr>
        <p:txBody>
          <a:bodyPr vert="horz" anchor="t" anchorCtr="0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Module leader</a:t>
            </a:r>
          </a:p>
          <a:p>
            <a:pPr marL="457200" lvl="1" indent="0">
              <a:buNone/>
            </a:pPr>
            <a:r>
              <a:rPr lang="en-US" sz="2400" dirty="0"/>
              <a:t>Professor Jun Hong</a:t>
            </a:r>
          </a:p>
          <a:p>
            <a:pPr marL="457200" lvl="1" indent="0">
              <a:buNone/>
            </a:pPr>
            <a:r>
              <a:rPr lang="en-US" sz="2400" dirty="0"/>
              <a:t>Contact: 3Q18, </a:t>
            </a:r>
            <a:r>
              <a:rPr lang="en-US" sz="2400" dirty="0">
                <a:hlinkClick r:id="rId3"/>
              </a:rPr>
              <a:t>Jun.Hong@uwe.ac.uk</a:t>
            </a:r>
            <a:endParaRPr lang="en-US" sz="2400" dirty="0"/>
          </a:p>
          <a:p>
            <a:pPr marL="57150" indent="0">
              <a:buNone/>
            </a:pPr>
            <a:r>
              <a:rPr lang="en-US" sz="2800" dirty="0"/>
              <a:t>Module tutors</a:t>
            </a:r>
          </a:p>
          <a:p>
            <a:pPr marL="457200" lvl="1" indent="0">
              <a:buNone/>
            </a:pPr>
            <a:r>
              <a:rPr lang="en-US" sz="2400" dirty="0"/>
              <a:t>Dr Nathan Duran (</a:t>
            </a:r>
            <a:r>
              <a:rPr lang="en-US" sz="2400" dirty="0">
                <a:hlinkClick r:id="rId4"/>
              </a:rPr>
              <a:t>Nathan.Duran@uwe.ac.uk</a:t>
            </a:r>
            <a:r>
              <a:rPr lang="en-US" sz="2400" dirty="0"/>
              <a:t>)</a:t>
            </a:r>
          </a:p>
          <a:p>
            <a:pPr marL="457200" lvl="1" indent="0">
              <a:buNone/>
            </a:pPr>
            <a:r>
              <a:rPr lang="en-US" sz="2400" dirty="0"/>
              <a:t>Dr Muhammad Khan (</a:t>
            </a:r>
            <a:r>
              <a:rPr lang="en-US" sz="2400" dirty="0">
                <a:hlinkClick r:id="rId5"/>
              </a:rPr>
              <a:t>muhammad40.khan@uwe.ac.uk</a:t>
            </a:r>
            <a:r>
              <a:rPr lang="en-US" sz="2400" dirty="0"/>
              <a:t>)</a:t>
            </a:r>
          </a:p>
          <a:p>
            <a:pPr marL="57150" indent="0">
              <a:buNone/>
            </a:pPr>
            <a:r>
              <a:rPr lang="en-US" sz="2800" dirty="0"/>
              <a:t>Lab sessions</a:t>
            </a:r>
          </a:p>
          <a:p>
            <a:pPr marL="57150" indent="0">
              <a:buNone/>
            </a:pPr>
            <a:r>
              <a:rPr lang="en-US" sz="2800" dirty="0"/>
              <a:t>	2Q13A (Nathan), 2Q13 (Muhammad), 2Q12 </a:t>
            </a:r>
            <a:r>
              <a:rPr lang="en-US" sz="2800"/>
              <a:t>(Jun)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3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1542-F374-894F-9A25-232BD0BE9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Core Principles and Hands-on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FE409-5570-4348-B0FD-8B2BADDBD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Both principle-oriented and hands-on</a:t>
            </a:r>
          </a:p>
          <a:p>
            <a:pPr lvl="1"/>
            <a:r>
              <a:rPr lang="en-GB" dirty="0"/>
              <a:t>Build out  the fundamental ideas of machine learning without math details (e.g. proofs, derivations)</a:t>
            </a:r>
          </a:p>
          <a:p>
            <a:pPr lvl="1"/>
            <a:r>
              <a:rPr lang="en-GB" dirty="0"/>
              <a:t>The math requirements are modest, mostly elementary algebra and plots of functions, some linear algebra (vectors and matrices)</a:t>
            </a:r>
          </a:p>
          <a:p>
            <a:pPr lvl="1"/>
            <a:r>
              <a:rPr lang="en-GB" dirty="0"/>
              <a:t>Develop, explore and extend living code (Python and Python libraries)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554D2-59B8-5049-D818-9F9727B8922C}"/>
              </a:ext>
            </a:extLst>
          </p:cNvPr>
          <p:cNvSpPr txBox="1"/>
          <p:nvPr/>
        </p:nvSpPr>
        <p:spPr>
          <a:xfrm>
            <a:off x="1577341" y="5989320"/>
            <a:ext cx="7109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You should be able to understand, describe, explain and present basic </a:t>
            </a:r>
            <a:r>
              <a:rPr lang="en-US" sz="1800" dirty="0">
                <a:solidFill>
                  <a:srgbClr val="C00000"/>
                </a:solidFill>
              </a:rPr>
              <a:t>intuitions, theories, concepts and illustrations, in addition to coding.</a:t>
            </a:r>
          </a:p>
        </p:txBody>
      </p:sp>
    </p:spTree>
    <p:extLst>
      <p:ext uri="{BB962C8B-B14F-4D97-AF65-F5344CB8AC3E}">
        <p14:creationId xmlns:p14="http://schemas.microsoft.com/office/powerpoint/2010/main" val="193771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106C7-02BB-1145-844E-930D3A32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and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24ECF-2A33-4843-80BA-C63DC3334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700" dirty="0"/>
              <a:t>Understand and apply machine learning algorithms to real-world applications</a:t>
            </a:r>
          </a:p>
          <a:p>
            <a:r>
              <a:rPr lang="en-US" sz="3700" dirty="0"/>
              <a:t>Obtain machine learning development experience, focusing on end-to-end solutions to ML problems for real-world applications</a:t>
            </a:r>
          </a:p>
          <a:p>
            <a:r>
              <a:rPr lang="en-US" sz="3700" dirty="0"/>
              <a:t>Lectures focus on the intuitions, theories, concepts and illustrations</a:t>
            </a:r>
          </a:p>
          <a:p>
            <a:r>
              <a:rPr lang="en-US" sz="3700" dirty="0"/>
              <a:t>Code tutorials to give you plenty of examples and templates to work with</a:t>
            </a:r>
          </a:p>
          <a:p>
            <a:r>
              <a:rPr lang="en-US" sz="3700" dirty="0"/>
              <a:t>Practical sessions to work on tutorials and exercises to cover all aspects of requirements for the assignment</a:t>
            </a:r>
          </a:p>
          <a:p>
            <a:r>
              <a:rPr lang="en-US" sz="3700" dirty="0"/>
              <a:t>Group project – find a real-world application to apply ML and develop end-to-end solutions</a:t>
            </a:r>
          </a:p>
          <a:p>
            <a:r>
              <a:rPr lang="en-US" sz="3700" i="1" dirty="0"/>
              <a:t>Self-exploratory, incorporating research, and self-initiatives</a:t>
            </a:r>
            <a:r>
              <a:rPr lang="en-US" sz="3700" dirty="0">
                <a:solidFill>
                  <a:srgbClr val="C00000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431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106C7-02BB-1145-844E-930D3A321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24ECF-2A33-4843-80BA-C63DC3334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of topics - Extend the coverage of ML algorithms to more contemporary algorithms</a:t>
            </a:r>
          </a:p>
          <a:p>
            <a:pPr lvl="1"/>
            <a:r>
              <a:rPr lang="en-US" dirty="0"/>
              <a:t>e.g. linear regression, logistic regression, support vector machines (SVMs), ensembles, random forests, convolutional neural networks (CNN) and a brief introduction to other popular types of neural networks (e.g. RNN</a:t>
            </a:r>
            <a:r>
              <a:rPr lang="en-US"/>
              <a:t>, generative adversarial </a:t>
            </a:r>
            <a:r>
              <a:rPr lang="en-US" dirty="0"/>
              <a:t>NN etc.)</a:t>
            </a:r>
          </a:p>
          <a:p>
            <a:r>
              <a:rPr lang="en-US" dirty="0"/>
              <a:t>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698305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Slide Number Placeholder 1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241ADD9-AF92-934B-9565-8A03080F81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Assessment Structure</a:t>
            </a:r>
          </a:p>
        </p:txBody>
      </p:sp>
      <p:sp>
        <p:nvSpPr>
          <p:cNvPr id="5" name="Vertical Text Placeholder 2"/>
          <p:cNvSpPr txBox="1">
            <a:spLocks/>
          </p:cNvSpPr>
          <p:nvPr/>
        </p:nvSpPr>
        <p:spPr>
          <a:xfrm>
            <a:off x="609600" y="1404730"/>
            <a:ext cx="8077200" cy="4873833"/>
          </a:xfrm>
          <a:prstGeom prst="rect">
            <a:avLst/>
          </a:prstGeom>
        </p:spPr>
        <p:txBody>
          <a:bodyPr vert="horz" anchor="t" anchorCtr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/>
              <a:t>Individual assignment (MO1, 30%)</a:t>
            </a:r>
          </a:p>
          <a:p>
            <a:pPr lvl="1"/>
            <a:r>
              <a:rPr lang="en-US" sz="2600" dirty="0"/>
              <a:t>Use two different algorithms with the same dataset </a:t>
            </a:r>
            <a:r>
              <a:rPr lang="en-GB" dirty="0"/>
              <a:t>to prepare datasets, and train, apply, evaluate, present and compare different ML models</a:t>
            </a:r>
            <a:endParaRPr lang="en-US" sz="3000" dirty="0"/>
          </a:p>
          <a:p>
            <a:r>
              <a:rPr lang="en-US" sz="3000" dirty="0"/>
              <a:t>Group project assignment (MO2, MO3, MO4, 70%)</a:t>
            </a:r>
          </a:p>
          <a:p>
            <a:pPr lvl="1"/>
            <a:r>
              <a:rPr lang="en-GB" dirty="0"/>
              <a:t>Each group consists of </a:t>
            </a:r>
            <a:r>
              <a:rPr lang="en-GB" i="1" dirty="0"/>
              <a:t>three students</a:t>
            </a:r>
            <a:r>
              <a:rPr lang="en-GB"/>
              <a:t>, supervised </a:t>
            </a:r>
            <a:r>
              <a:rPr lang="en-GB" dirty="0"/>
              <a:t>by one of the three tutors </a:t>
            </a:r>
          </a:p>
          <a:p>
            <a:pPr lvl="1"/>
            <a:r>
              <a:rPr lang="en-GB" dirty="0"/>
              <a:t>Design, develop, evaluate and present an end-to-end ML solution in Python to </a:t>
            </a:r>
            <a:r>
              <a:rPr lang="en-GB" i="1" dirty="0"/>
              <a:t>a real-world problem</a:t>
            </a:r>
            <a:r>
              <a:rPr lang="en-GB" sz="2400" i="1" dirty="0"/>
              <a:t> </a:t>
            </a:r>
          </a:p>
          <a:p>
            <a:pPr lvl="1"/>
            <a:r>
              <a:rPr lang="en-GB" dirty="0"/>
              <a:t>Two deliverables, a project proposal (one page) and a final submission (a research paper-like report plus the Python code)</a:t>
            </a:r>
            <a:endParaRPr lang="en-US" sz="2600" dirty="0"/>
          </a:p>
          <a:p>
            <a:endParaRPr lang="en-US" sz="3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0168B4-59F2-C2E0-5E32-80ED7AA80C2A}"/>
              </a:ext>
            </a:extLst>
          </p:cNvPr>
          <p:cNvSpPr txBox="1"/>
          <p:nvPr/>
        </p:nvSpPr>
        <p:spPr>
          <a:xfrm>
            <a:off x="1268730" y="6137910"/>
            <a:ext cx="7418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Refer to the module schedule for further details on the timeline and submissions.</a:t>
            </a:r>
          </a:p>
        </p:txBody>
      </p:sp>
    </p:spTree>
    <p:extLst>
      <p:ext uri="{BB962C8B-B14F-4D97-AF65-F5344CB8AC3E}">
        <p14:creationId xmlns:p14="http://schemas.microsoft.com/office/powerpoint/2010/main" val="1855028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C9D4C-2E12-D84B-9F14-0A6D518A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04C67-CD30-6D45-B8E2-D51E3A1F7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Python with a number of libraries</a:t>
            </a:r>
          </a:p>
          <a:p>
            <a:pPr lvl="1"/>
            <a:r>
              <a:rPr lang="en-GB" dirty="0" err="1"/>
              <a:t>Scikit</a:t>
            </a:r>
            <a:r>
              <a:rPr lang="en-GB" dirty="0"/>
              <a:t> Learn, </a:t>
            </a:r>
            <a:r>
              <a:rPr lang="en-GB" dirty="0" err="1"/>
              <a:t>Numpy</a:t>
            </a:r>
            <a:r>
              <a:rPr lang="en-GB" dirty="0"/>
              <a:t>, Pandas, Matplotlib, </a:t>
            </a:r>
            <a:r>
              <a:rPr lang="en-GB" dirty="0" err="1"/>
              <a:t>Tensorflow</a:t>
            </a:r>
            <a:r>
              <a:rPr lang="en-GB" dirty="0"/>
              <a:t> via </a:t>
            </a:r>
            <a:r>
              <a:rPr lang="en-GB" dirty="0" err="1"/>
              <a:t>Keras</a:t>
            </a:r>
            <a:r>
              <a:rPr lang="en-GB" dirty="0"/>
              <a:t>, etc.</a:t>
            </a:r>
          </a:p>
          <a:p>
            <a:r>
              <a:rPr lang="en-GB" dirty="0"/>
              <a:t>Online </a:t>
            </a:r>
            <a:r>
              <a:rPr lang="en-GB" dirty="0" err="1"/>
              <a:t>Jupyterhub</a:t>
            </a:r>
            <a:r>
              <a:rPr lang="en-GB" dirty="0"/>
              <a:t> server</a:t>
            </a:r>
          </a:p>
          <a:p>
            <a:pPr lvl="1"/>
            <a:r>
              <a:rPr lang="en-GB" dirty="0">
                <a:hlinkClick r:id="rId3"/>
              </a:rPr>
              <a:t>https://csctcloud.uwe.ac.uk:22000</a:t>
            </a:r>
            <a:endParaRPr lang="en-GB" dirty="0"/>
          </a:p>
          <a:p>
            <a:pPr lvl="1"/>
            <a:r>
              <a:rPr lang="en-GB" dirty="0">
                <a:solidFill>
                  <a:srgbClr val="C00000"/>
                </a:solidFill>
              </a:rPr>
              <a:t>Do not pip install anything locally</a:t>
            </a:r>
            <a:r>
              <a:rPr lang="en-GB" dirty="0"/>
              <a:t>, an environment called Machine Learning has already been installed, which contains all the packages needed for the module</a:t>
            </a:r>
          </a:p>
          <a:p>
            <a:pPr lvl="1"/>
            <a:r>
              <a:rPr lang="en-GB" dirty="0"/>
              <a:t>You can create a folder called </a:t>
            </a:r>
            <a:r>
              <a:rPr lang="en-GB" dirty="0" err="1"/>
              <a:t>ML_Module</a:t>
            </a:r>
            <a:r>
              <a:rPr lang="en-GB" dirty="0"/>
              <a:t> to hold all </a:t>
            </a:r>
            <a:r>
              <a:rPr lang="en-GB"/>
              <a:t>your notebooks</a:t>
            </a:r>
            <a:endParaRPr lang="en-GB" dirty="0"/>
          </a:p>
          <a:p>
            <a:r>
              <a:rPr lang="en-GB" dirty="0"/>
              <a:t>Google </a:t>
            </a:r>
            <a:r>
              <a:rPr lang="en-GB" dirty="0" err="1"/>
              <a:t>Colab</a:t>
            </a:r>
            <a:endParaRPr lang="en-GB" dirty="0"/>
          </a:p>
          <a:p>
            <a:pPr lvl="1"/>
            <a:r>
              <a:rPr lang="en-GB" dirty="0">
                <a:hlinkClick r:id="rId4"/>
              </a:rPr>
              <a:t>https://colab.research.google.com/</a:t>
            </a:r>
            <a:endParaRPr lang="en-GB" dirty="0"/>
          </a:p>
          <a:p>
            <a:pPr lvl="1"/>
            <a:r>
              <a:rPr lang="en-GB" dirty="0"/>
              <a:t>Need a Google account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25DDA-3B7D-4D4A-BBBA-690E08ADE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84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86B1E-A673-764E-90E9-F3FB1B48D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8E808-C6E0-A04D-93AD-A74B3A6B0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Reading List: UFCFAS-15-2 Machine Learning</a:t>
            </a:r>
          </a:p>
          <a:p>
            <a:pPr lvl="1"/>
            <a:r>
              <a:rPr lang="en-US" dirty="0">
                <a:hlinkClick r:id="rId3"/>
              </a:rPr>
              <a:t>https://rl.talis.com/3/uwe/lists/41208907-AE7E-D7A4-2CAF-DB82ACB2F623.html?lang=en-GB&amp;login=1</a:t>
            </a:r>
            <a:endParaRPr lang="en-US" dirty="0"/>
          </a:p>
          <a:p>
            <a:r>
              <a:rPr lang="en-GB" dirty="0"/>
              <a:t>Hands-On Machine Learning with Scikit-Learn, </a:t>
            </a:r>
            <a:r>
              <a:rPr lang="en-GB" dirty="0" err="1"/>
              <a:t>Keras</a:t>
            </a:r>
            <a:r>
              <a:rPr lang="en-GB" dirty="0"/>
              <a:t>, and TensorFlow, 2nd Edition, by </a:t>
            </a:r>
            <a:r>
              <a:rPr lang="en-GB" dirty="0" err="1"/>
              <a:t>Aurélien</a:t>
            </a:r>
            <a:r>
              <a:rPr lang="en-GB" dirty="0"/>
              <a:t> </a:t>
            </a:r>
            <a:r>
              <a:rPr lang="en-GB" dirty="0" err="1"/>
              <a:t>Géron</a:t>
            </a:r>
            <a:r>
              <a:rPr lang="en-GB" dirty="0"/>
              <a:t> (O’Reilly)</a:t>
            </a:r>
          </a:p>
          <a:p>
            <a:pPr lvl="1"/>
            <a:r>
              <a:rPr lang="en-GB" dirty="0">
                <a:hlinkClick r:id="rId4"/>
              </a:rPr>
              <a:t>https://github.com/ageron/handson-ml2</a:t>
            </a:r>
            <a:endParaRPr lang="en-GB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BC05B-0D16-004A-914D-D74A2D35E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49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16A18-2072-FB42-B0C5-590B363BB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E55C8-3D86-9D4E-AAB9-97FDB3435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Artificial intelligence: a Modern Approach by Stuart J. Russell and Peter </a:t>
            </a:r>
            <a:r>
              <a:rPr lang="en-US" dirty="0" err="1"/>
              <a:t>Norvig</a:t>
            </a:r>
            <a:r>
              <a:rPr lang="en-US" dirty="0"/>
              <a:t>, 2021</a:t>
            </a:r>
          </a:p>
          <a:p>
            <a:r>
              <a:rPr lang="en-US" dirty="0"/>
              <a:t>Machine Learning: a Probabilistic Perspective</a:t>
            </a:r>
          </a:p>
          <a:p>
            <a:r>
              <a:rPr lang="en-US" dirty="0"/>
              <a:t>Deep Learning by Ian </a:t>
            </a:r>
            <a:r>
              <a:rPr lang="en-US" dirty="0" err="1"/>
              <a:t>Goodfellow</a:t>
            </a:r>
            <a:r>
              <a:rPr lang="en-US" dirty="0"/>
              <a:t>, </a:t>
            </a:r>
            <a:r>
              <a:rPr lang="en-US" dirty="0" err="1"/>
              <a:t>Yoshua</a:t>
            </a:r>
            <a:r>
              <a:rPr lang="en-US" dirty="0"/>
              <a:t> </a:t>
            </a:r>
            <a:r>
              <a:rPr lang="en-US" dirty="0" err="1"/>
              <a:t>Bengio</a:t>
            </a:r>
            <a:r>
              <a:rPr lang="en-US" dirty="0"/>
              <a:t> and Aaron </a:t>
            </a:r>
            <a:r>
              <a:rPr lang="en-US" dirty="0" err="1"/>
              <a:t>Courville</a:t>
            </a:r>
            <a:r>
              <a:rPr lang="en-US" dirty="0"/>
              <a:t>, An MIT Press book</a:t>
            </a:r>
          </a:p>
          <a:p>
            <a:pPr lvl="1"/>
            <a:r>
              <a:rPr lang="en-US" dirty="0">
                <a:hlinkClick r:id="rId2"/>
              </a:rPr>
              <a:t>https://www.deeplearningbook.org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BCAED-2651-544D-BCB5-370C27F39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87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06AC-EA8A-B34A-A8BF-1FED656B5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A7996-7DBA-C849-95FC-DA63A3004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Scikit-Learn’s</a:t>
            </a:r>
            <a:r>
              <a:rPr lang="en-US" dirty="0"/>
              <a:t> User Guide</a:t>
            </a:r>
          </a:p>
          <a:p>
            <a:r>
              <a:rPr lang="en-US" dirty="0"/>
              <a:t>Neural Networks and Deep Learning by Michael Nielsen</a:t>
            </a:r>
          </a:p>
          <a:p>
            <a:pPr lvl="1"/>
            <a:r>
              <a:rPr lang="en-US" dirty="0">
                <a:hlinkClick r:id="rId3"/>
              </a:rPr>
              <a:t>http://neuralnetworksanddeeplearning.com</a:t>
            </a:r>
            <a:endParaRPr lang="en-US" dirty="0"/>
          </a:p>
          <a:p>
            <a:pPr lvl="1"/>
            <a:r>
              <a:rPr lang="en-US" dirty="0"/>
              <a:t>A free online book</a:t>
            </a:r>
          </a:p>
          <a:p>
            <a:pPr lvl="1"/>
            <a:r>
              <a:rPr lang="en-US" dirty="0">
                <a:hlinkClick r:id="rId4"/>
              </a:rPr>
              <a:t>https://github.com/mnielsen/neural-networks-and-deep-learning</a:t>
            </a:r>
            <a:endParaRPr lang="en-US" dirty="0"/>
          </a:p>
          <a:p>
            <a:r>
              <a:rPr lang="en-US" dirty="0"/>
              <a:t>Other resources – so many, better to discover those that suit you the best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FA5DC-CE91-8F4A-9034-D6AFB012B7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F5538-B0AF-EA44-8A6B-A01DCD42C5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C3C91-6BCD-294B-90AF-85E72449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1ADD9-AF92-934B-9565-8A03080F81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18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20944</TotalTime>
  <Words>788</Words>
  <Application>Microsoft Macintosh PowerPoint</Application>
  <PresentationFormat>On-screen Show (4:3)</PresentationFormat>
  <Paragraphs>86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-apple-system</vt:lpstr>
      <vt:lpstr>Arial</vt:lpstr>
      <vt:lpstr>Office Theme</vt:lpstr>
      <vt:lpstr>Machine Learning (UFCFAS-15-2)</vt:lpstr>
      <vt:lpstr>PowerPoint Presentation</vt:lpstr>
      <vt:lpstr>Core Principles and Hands-on Experience</vt:lpstr>
      <vt:lpstr>Objectives and Approach</vt:lpstr>
      <vt:lpstr>Module Structure</vt:lpstr>
      <vt:lpstr>PowerPoint Presentation</vt:lpstr>
      <vt:lpstr>Software</vt:lpstr>
      <vt:lpstr>References</vt:lpstr>
      <vt:lpstr>References</vt:lpstr>
      <vt:lpstr>Resources</vt:lpstr>
      <vt:lpstr>End of 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</dc:title>
  <dc:creator>Jun Hong</dc:creator>
  <cp:lastModifiedBy>Jun Hong</cp:lastModifiedBy>
  <cp:revision>374</cp:revision>
  <cp:lastPrinted>2023-01-12T16:47:51Z</cp:lastPrinted>
  <dcterms:created xsi:type="dcterms:W3CDTF">2017-08-11T20:30:33Z</dcterms:created>
  <dcterms:modified xsi:type="dcterms:W3CDTF">2025-01-30T09:45:55Z</dcterms:modified>
</cp:coreProperties>
</file>